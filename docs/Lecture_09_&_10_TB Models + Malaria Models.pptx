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g3b2efa3f2a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 name="Google Shape;14;g3b2efa3f2a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Today’s session is a focused crash unit on two disease-specific modelling blocks: </a:t>
            </a:r>
            <a:r>
              <a:rPr b="1" lang="en-US" sz="1100">
                <a:latin typeface="Arial"/>
                <a:ea typeface="Arial"/>
                <a:cs typeface="Arial"/>
                <a:sym typeface="Arial"/>
              </a:rPr>
              <a:t>TB models</a:t>
            </a:r>
            <a:r>
              <a:rPr lang="en-US" sz="1100">
                <a:latin typeface="Arial"/>
                <a:ea typeface="Arial"/>
                <a:cs typeface="Arial"/>
                <a:sym typeface="Arial"/>
              </a:rPr>
              <a:t> and </a:t>
            </a:r>
            <a:r>
              <a:rPr b="1" lang="en-US" sz="1100">
                <a:latin typeface="Arial"/>
                <a:ea typeface="Arial"/>
                <a:cs typeface="Arial"/>
                <a:sym typeface="Arial"/>
              </a:rPr>
              <a:t>malaria models</a:t>
            </a:r>
            <a:r>
              <a:rPr lang="en-US" sz="1100">
                <a:latin typeface="Arial"/>
                <a:ea typeface="Arial"/>
                <a:cs typeface="Arial"/>
                <a:sym typeface="Arial"/>
              </a:rPr>
              <a:t>. The point is not to drown in detail, but to cover the pieces that actually matter in modelling and in the exam: </a:t>
            </a:r>
            <a:r>
              <a:rPr b="1" lang="en-US" sz="1100">
                <a:latin typeface="Arial"/>
                <a:ea typeface="Arial"/>
                <a:cs typeface="Arial"/>
                <a:sym typeface="Arial"/>
              </a:rPr>
              <a:t>model structure</a:t>
            </a:r>
            <a:r>
              <a:rPr lang="en-US" sz="1100">
                <a:latin typeface="Arial"/>
                <a:ea typeface="Arial"/>
                <a:cs typeface="Arial"/>
                <a:sym typeface="Arial"/>
              </a:rPr>
              <a:t>, </a:t>
            </a:r>
            <a:r>
              <a:rPr b="1" lang="en-US" sz="1100">
                <a:latin typeface="Arial"/>
                <a:ea typeface="Arial"/>
                <a:cs typeface="Arial"/>
                <a:sym typeface="Arial"/>
              </a:rPr>
              <a:t>parameter meanings</a:t>
            </a:r>
            <a:r>
              <a:rPr lang="en-US" sz="1100">
                <a:latin typeface="Arial"/>
                <a:ea typeface="Arial"/>
                <a:cs typeface="Arial"/>
                <a:sym typeface="Arial"/>
              </a:rPr>
              <a:t>, </a:t>
            </a:r>
            <a:r>
              <a:rPr b="1" lang="en-US" sz="1100">
                <a:latin typeface="Arial"/>
                <a:ea typeface="Arial"/>
                <a:cs typeface="Arial"/>
                <a:sym typeface="Arial"/>
              </a:rPr>
              <a:t>threshold ideas like R</a:t>
            </a:r>
            <a:r>
              <a:rPr b="1" baseline="-25000" lang="en-US" sz="1100">
                <a:latin typeface="Arial"/>
                <a:ea typeface="Arial"/>
                <a:cs typeface="Arial"/>
                <a:sym typeface="Arial"/>
              </a:rPr>
              <a:t>0</a:t>
            </a:r>
            <a:r>
              <a:rPr lang="en-US" sz="1100">
                <a:latin typeface="Arial"/>
                <a:ea typeface="Arial"/>
                <a:cs typeface="Arial"/>
                <a:sym typeface="Arial"/>
              </a:rPr>
              <a:t>, and </a:t>
            </a:r>
            <a:r>
              <a:rPr b="1" lang="en-US" sz="1100">
                <a:latin typeface="Arial"/>
                <a:ea typeface="Arial"/>
                <a:cs typeface="Arial"/>
                <a:sym typeface="Arial"/>
              </a:rPr>
              <a:t>how interventions appear as parameter changes</a:t>
            </a:r>
            <a:r>
              <a:rPr lang="en-US" sz="1100">
                <a:latin typeface="Arial"/>
                <a:ea typeface="Arial"/>
                <a:cs typeface="Arial"/>
                <a:sym typeface="Arial"/>
              </a:rPr>
              <a:t>. TB and malaria are ideal for this because they force us to respect biology. TB forces us to include </a:t>
            </a:r>
            <a:r>
              <a:rPr b="1" lang="en-US" sz="1100">
                <a:latin typeface="Arial"/>
                <a:ea typeface="Arial"/>
                <a:cs typeface="Arial"/>
                <a:sym typeface="Arial"/>
              </a:rPr>
              <a:t>latency</a:t>
            </a:r>
            <a:r>
              <a:rPr lang="en-US" sz="1100">
                <a:latin typeface="Arial"/>
                <a:ea typeface="Arial"/>
                <a:cs typeface="Arial"/>
                <a:sym typeface="Arial"/>
              </a:rPr>
              <a:t>, because infection does not immediately mean infectiousness. Malaria forces us to include </a:t>
            </a:r>
            <a:r>
              <a:rPr b="1" lang="en-US" sz="1100">
                <a:latin typeface="Arial"/>
                <a:ea typeface="Arial"/>
                <a:cs typeface="Arial"/>
                <a:sym typeface="Arial"/>
              </a:rPr>
              <a:t>vectors</a:t>
            </a:r>
            <a:r>
              <a:rPr lang="en-US" sz="1100">
                <a:latin typeface="Arial"/>
                <a:ea typeface="Arial"/>
                <a:cs typeface="Arial"/>
                <a:sym typeface="Arial"/>
              </a:rPr>
              <a:t>, because transmission is not direct human-to-human. As we go, keep one habit: whenever you see a compartment or a parameter, ask what biological process it represents and what a public health program could realistically change about it.</a:t>
            </a:r>
            <a:endParaRPr/>
          </a:p>
        </p:txBody>
      </p:sp>
      <p:sp>
        <p:nvSpPr>
          <p:cNvPr id="15" name="Google Shape;15;g3b2efa3f2a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g3b2efa3f2a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 name="Google Shape;20;g3b2efa3f2a9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At the end of this crash unit, these key abilities are very specific.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First, it should be natural to write a minimal TB model with </a:t>
            </a:r>
            <a:r>
              <a:rPr b="1" lang="en-US" sz="1100">
                <a:latin typeface="Arial"/>
                <a:ea typeface="Arial"/>
                <a:cs typeface="Arial"/>
                <a:sym typeface="Arial"/>
              </a:rPr>
              <a:t>S, L, I</a:t>
            </a:r>
            <a:r>
              <a:rPr lang="en-US" sz="1100">
                <a:latin typeface="Arial"/>
                <a:ea typeface="Arial"/>
                <a:cs typeface="Arial"/>
                <a:sym typeface="Arial"/>
              </a:rPr>
              <a:t> and to explain clearly why latency changes the whole story of persistence and timing.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Second, it should be clear how reinfection and treatment enter TB models: reinfection as partial immunity or reduced susceptibility, and treatment as a mechanism that shortens infectious duration and changes outcomes.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Third, for malaria, it should be natural to write a minimal host–vector model, define the forces of infection for humans and vectors, and explain what controls R</a:t>
            </a:r>
            <a:r>
              <a:rPr baseline="-25000" lang="en-US" sz="1100">
                <a:latin typeface="Arial"/>
                <a:ea typeface="Arial"/>
                <a:cs typeface="Arial"/>
                <a:sym typeface="Arial"/>
              </a:rPr>
              <a:t>0</a:t>
            </a:r>
            <a:r>
              <a:rPr lang="en-US" sz="1100">
                <a:latin typeface="Arial"/>
                <a:ea typeface="Arial"/>
                <a:cs typeface="Arial"/>
                <a:sym typeface="Arial"/>
              </a:rPr>
              <a:t> in malaria systems.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Finally, seasonality must make sense conceptually: a time-varying biting rate or vector density produces waves, shifts peaks, and makes model fitting harder. </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If you can do these things, you can handle the exam-style questions on TB and malaria models confidently.</a:t>
            </a:r>
            <a:endParaRPr/>
          </a:p>
        </p:txBody>
      </p:sp>
      <p:sp>
        <p:nvSpPr>
          <p:cNvPr id="21" name="Google Shape;21;g3b2efa3f2a9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g3b2efa3f2a9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 name="Google Shape;26;g3b2efa3f2a9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This crash unit has two parts. </a:t>
            </a:r>
            <a:r>
              <a:rPr b="1" lang="en-US" sz="1100">
                <a:latin typeface="Arial"/>
                <a:ea typeface="Arial"/>
                <a:cs typeface="Arial"/>
                <a:sym typeface="Arial"/>
              </a:rPr>
              <a:t>Part 1 is TB.</a:t>
            </a:r>
            <a:r>
              <a:rPr lang="en-US" sz="1100">
                <a:latin typeface="Arial"/>
                <a:ea typeface="Arial"/>
                <a:cs typeface="Arial"/>
                <a:sym typeface="Arial"/>
              </a:rPr>
              <a:t> The central message is that latency is not a small modification; it changes the time-scale and persistence of the disease. We’ll express TB as flows through S to L to I, then interpret progression versus clearance, and then add reinfection, treatment, and drug resistance in a structured way. </a:t>
            </a:r>
            <a:endParaRPr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rPr b="1" lang="en-US" sz="1100">
                <a:latin typeface="Arial"/>
                <a:ea typeface="Arial"/>
                <a:cs typeface="Arial"/>
                <a:sym typeface="Arial"/>
              </a:rPr>
              <a:t>Part 2 is malaria.</a:t>
            </a:r>
            <a:r>
              <a:rPr lang="en-US" sz="1100">
                <a:latin typeface="Arial"/>
                <a:ea typeface="Arial"/>
                <a:cs typeface="Arial"/>
                <a:sym typeface="Arial"/>
              </a:rPr>
              <a:t> The central message is that vectors mediate transmission, so the model must include mosquitoes explicitly. We’ll build a Ross–Macdonald style host–vector loop, interpret R</a:t>
            </a:r>
            <a:r>
              <a:rPr baseline="-25000" lang="en-US" sz="1100">
                <a:latin typeface="Arial"/>
                <a:ea typeface="Arial"/>
                <a:cs typeface="Arial"/>
                <a:sym typeface="Arial"/>
              </a:rPr>
              <a:t>0</a:t>
            </a:r>
            <a:r>
              <a:rPr lang="en-US" sz="1100">
                <a:latin typeface="Arial"/>
                <a:ea typeface="Arial"/>
                <a:cs typeface="Arial"/>
                <a:sym typeface="Arial"/>
              </a:rPr>
              <a:t> in terms of biting and survival, show how ITNs and IRS change parameters, and finally introduce seasonality using a time-varying parameter such as the biting rate.</a:t>
            </a:r>
            <a:endParaRPr/>
          </a:p>
        </p:txBody>
      </p:sp>
      <p:sp>
        <p:nvSpPr>
          <p:cNvPr id="27" name="Google Shape;27;g3b2efa3f2a9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g3b2efa3f2a9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 name="Google Shape;32;g3b2efa3f2a9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4 — TB modelling: what makes it special</a:t>
            </a:r>
            <a:endParaRPr b="1" sz="17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TB is a classic example where biology forces the mathematics. </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The key features are:</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b="1" lang="en-US" sz="1100">
                <a:latin typeface="Arial"/>
                <a:ea typeface="Arial"/>
                <a:cs typeface="Arial"/>
                <a:sym typeface="Arial"/>
              </a:rPr>
              <a:t>long latency</a:t>
            </a:r>
            <a:r>
              <a:rPr lang="en-US" sz="1100">
                <a:latin typeface="Arial"/>
                <a:ea typeface="Arial"/>
                <a:cs typeface="Arial"/>
                <a:sym typeface="Arial"/>
              </a:rPr>
              <a:t>, meaning many infected people stay in a latent state for years;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US" sz="1100">
                <a:latin typeface="Arial"/>
                <a:ea typeface="Arial"/>
                <a:cs typeface="Arial"/>
                <a:sym typeface="Arial"/>
              </a:rPr>
              <a:t>slow dynamics</a:t>
            </a:r>
            <a:r>
              <a:rPr lang="en-US" sz="1100">
                <a:latin typeface="Arial"/>
                <a:ea typeface="Arial"/>
                <a:cs typeface="Arial"/>
                <a:sym typeface="Arial"/>
              </a:rPr>
              <a:t>, meaning incidence can lag behind transmission changes;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US" sz="1100">
                <a:latin typeface="Arial"/>
                <a:ea typeface="Arial"/>
                <a:cs typeface="Arial"/>
                <a:sym typeface="Arial"/>
              </a:rPr>
              <a:t>possible reinfection</a:t>
            </a:r>
            <a:r>
              <a:rPr lang="en-US" sz="1100">
                <a:latin typeface="Arial"/>
                <a:ea typeface="Arial"/>
                <a:cs typeface="Arial"/>
                <a:sym typeface="Arial"/>
              </a:rPr>
              <a:t>, especially where exposure is frequent; and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US" sz="1100">
                <a:latin typeface="Arial"/>
                <a:ea typeface="Arial"/>
                <a:cs typeface="Arial"/>
                <a:sym typeface="Arial"/>
              </a:rPr>
              <a:t>treatment-driven control</a:t>
            </a:r>
            <a:r>
              <a:rPr lang="en-US" sz="1100">
                <a:latin typeface="Arial"/>
                <a:ea typeface="Arial"/>
                <a:cs typeface="Arial"/>
                <a:sym typeface="Arial"/>
              </a:rPr>
              <a:t>, meaning programmatic performance—case finding, linkage, adherence—directly changes the model.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TB also has the extra complexity of </a:t>
            </a:r>
            <a:r>
              <a:rPr b="1" lang="en-US" sz="1100">
                <a:latin typeface="Arial"/>
                <a:ea typeface="Arial"/>
                <a:cs typeface="Arial"/>
                <a:sym typeface="Arial"/>
              </a:rPr>
              <a:t>drug resistance</a:t>
            </a:r>
            <a:r>
              <a:rPr lang="en-US" sz="1100">
                <a:latin typeface="Arial"/>
                <a:ea typeface="Arial"/>
                <a:cs typeface="Arial"/>
                <a:sym typeface="Arial"/>
              </a:rPr>
              <a:t>, which effectively creates a second epidemic embedded inside the first. So TB modelling is always about two pools: the latent pool, which stores risk for the future, and the infectious pool, which drives transmission now. If a model ignores latency, it misses TB’s most important behaviour: delayed cases and persistent burden even when transmission falls.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3" name="Google Shape;33;g3b2efa3f2a9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b2efa3f2a9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 name="Google Shape;38;g3b2efa3f2a9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5 — TB: minimal compartment structure</a:t>
            </a:r>
            <a:endParaRPr b="1" sz="17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 minimal TB model uses three compartments: </a:t>
            </a:r>
            <a:r>
              <a:rPr b="1" lang="en-US" sz="1100">
                <a:latin typeface="Arial"/>
                <a:ea typeface="Arial"/>
                <a:cs typeface="Arial"/>
                <a:sym typeface="Arial"/>
              </a:rPr>
              <a:t>S</a:t>
            </a:r>
            <a:r>
              <a:rPr lang="en-US" sz="1100">
                <a:latin typeface="Arial"/>
                <a:ea typeface="Arial"/>
                <a:cs typeface="Arial"/>
                <a:sym typeface="Arial"/>
              </a:rPr>
              <a:t> for susceptible, </a:t>
            </a:r>
            <a:r>
              <a:rPr b="1" lang="en-US" sz="1100">
                <a:latin typeface="Arial"/>
                <a:ea typeface="Arial"/>
                <a:cs typeface="Arial"/>
                <a:sym typeface="Arial"/>
              </a:rPr>
              <a:t>L</a:t>
            </a:r>
            <a:r>
              <a:rPr lang="en-US" sz="1100">
                <a:latin typeface="Arial"/>
                <a:ea typeface="Arial"/>
                <a:cs typeface="Arial"/>
                <a:sym typeface="Arial"/>
              </a:rPr>
              <a:t> for latent infection, and </a:t>
            </a:r>
            <a:r>
              <a:rPr b="1" lang="en-US" sz="1100">
                <a:latin typeface="Arial"/>
                <a:ea typeface="Arial"/>
                <a:cs typeface="Arial"/>
                <a:sym typeface="Arial"/>
              </a:rPr>
              <a:t>I</a:t>
            </a:r>
            <a:r>
              <a:rPr lang="en-US" sz="1100">
                <a:latin typeface="Arial"/>
                <a:ea typeface="Arial"/>
                <a:cs typeface="Arial"/>
                <a:sym typeface="Arial"/>
              </a:rPr>
              <a:t> for infectious TB.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key pathway is S → L → I. That structure is already telling you something profound: infection does not instantly create infectiousness. People can enter L and stay there for long periods, and then later progress to I through reactivation or progression. This is why TB is persistent: the latent compartment acts like a reservoir of future infectious cases. In practice, you may also include a treatment compartment </a:t>
            </a:r>
            <a:r>
              <a:rPr b="1" lang="en-US" sz="1100">
                <a:latin typeface="Arial"/>
                <a:ea typeface="Arial"/>
                <a:cs typeface="Arial"/>
                <a:sym typeface="Arial"/>
              </a:rPr>
              <a:t>T</a:t>
            </a:r>
            <a:r>
              <a:rPr lang="en-US" sz="1100">
                <a:latin typeface="Arial"/>
                <a:ea typeface="Arial"/>
                <a:cs typeface="Arial"/>
                <a:sym typeface="Arial"/>
              </a:rPr>
              <a:t>, but the minimal message is already captured by S–L–I. In this model, the exam-level questions typically ask you to write the flows, define parameters, and explain why latency changes timing and persistence compared to a simple SIR disease.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9" name="Google Shape;39;g3b2efa3f2a9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b2efa3f2a9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 name="Google Shape;44;g3b2efa3f2a9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6 — TB: minimal S–L–I equations</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minimal TB equations start by defining a force of infection. In a closed population, one common form is:</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𝝀</a:t>
            </a:r>
            <a:r>
              <a:rPr b="1" lang="en-US" sz="1100">
                <a:latin typeface="Arial"/>
                <a:ea typeface="Arial"/>
                <a:cs typeface="Arial"/>
                <a:sym typeface="Arial"/>
              </a:rPr>
              <a:t>(t) = 𝞫 I(t) / N</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the dynamics can be written as:</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dS/dt = – 𝝀</a:t>
            </a:r>
            <a:r>
              <a:rPr b="1" i="1" lang="en-US" sz="1100">
                <a:latin typeface="Arial"/>
                <a:ea typeface="Arial"/>
                <a:cs typeface="Arial"/>
                <a:sym typeface="Arial"/>
              </a:rPr>
              <a:t>S</a:t>
            </a:r>
            <a:br>
              <a:rPr b="1"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dL/dt = </a:t>
            </a:r>
            <a:r>
              <a:rPr b="1" lang="en-US" sz="1100">
                <a:latin typeface="Arial"/>
                <a:ea typeface="Arial"/>
                <a:cs typeface="Arial"/>
                <a:sym typeface="Arial"/>
              </a:rPr>
              <a:t>𝝀</a:t>
            </a:r>
            <a:r>
              <a:rPr b="1" i="1" lang="en-US" sz="1100">
                <a:latin typeface="Arial"/>
                <a:ea typeface="Arial"/>
                <a:cs typeface="Arial"/>
                <a:sym typeface="Arial"/>
              </a:rPr>
              <a:t>S</a:t>
            </a:r>
            <a:r>
              <a:rPr b="1" lang="en-US" sz="1100">
                <a:latin typeface="Arial"/>
                <a:ea typeface="Arial"/>
                <a:cs typeface="Arial"/>
                <a:sym typeface="Arial"/>
              </a:rPr>
              <a:t> – 𝜿L</a:t>
            </a:r>
            <a:br>
              <a:rPr b="1"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dI/dt = </a:t>
            </a:r>
            <a:r>
              <a:rPr b="1" lang="en-US" sz="1100">
                <a:latin typeface="Arial"/>
                <a:ea typeface="Arial"/>
                <a:cs typeface="Arial"/>
                <a:sym typeface="Arial"/>
              </a:rPr>
              <a:t>𝜿L</a:t>
            </a:r>
            <a:r>
              <a:rPr b="1" lang="en-US" sz="1100">
                <a:latin typeface="Arial"/>
                <a:ea typeface="Arial"/>
                <a:cs typeface="Arial"/>
                <a:sym typeface="Arial"/>
              </a:rPr>
              <a:t> – 𝞬I</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a:t>
            </a:r>
            <a:r>
              <a:rPr b="1" lang="en-US" sz="1100">
                <a:latin typeface="Arial"/>
                <a:ea typeface="Arial"/>
                <a:cs typeface="Arial"/>
                <a:sym typeface="Arial"/>
              </a:rPr>
              <a:t>beta(</a:t>
            </a:r>
            <a:r>
              <a:rPr b="1" lang="en-US" sz="1100">
                <a:latin typeface="Arial"/>
                <a:ea typeface="Arial"/>
                <a:cs typeface="Arial"/>
                <a:sym typeface="Arial"/>
              </a:rPr>
              <a:t>𝞫)</a:t>
            </a:r>
            <a:r>
              <a:rPr lang="en-US" sz="1100">
                <a:latin typeface="Arial"/>
                <a:ea typeface="Arial"/>
                <a:cs typeface="Arial"/>
                <a:sym typeface="Arial"/>
              </a:rPr>
              <a:t> is the transmission parameter; </a:t>
            </a:r>
            <a:r>
              <a:rPr b="1" lang="en-US" sz="1100">
                <a:latin typeface="Arial"/>
                <a:ea typeface="Arial"/>
                <a:cs typeface="Arial"/>
                <a:sym typeface="Arial"/>
              </a:rPr>
              <a:t>kappa(</a:t>
            </a:r>
            <a:r>
              <a:rPr b="1" lang="en-US" sz="1100">
                <a:latin typeface="Arial"/>
                <a:ea typeface="Arial"/>
                <a:cs typeface="Arial"/>
                <a:sym typeface="Arial"/>
              </a:rPr>
              <a:t>𝜿)</a:t>
            </a:r>
            <a:r>
              <a:rPr lang="en-US" sz="1100">
                <a:latin typeface="Arial"/>
                <a:ea typeface="Arial"/>
                <a:cs typeface="Arial"/>
                <a:sym typeface="Arial"/>
              </a:rPr>
              <a:t> is the progression or reactivation rate from latent to infectious TB; and </a:t>
            </a:r>
            <a:r>
              <a:rPr b="1" lang="en-US" sz="1100">
                <a:latin typeface="Arial"/>
                <a:ea typeface="Arial"/>
                <a:cs typeface="Arial"/>
                <a:sym typeface="Arial"/>
              </a:rPr>
              <a:t>gamma(</a:t>
            </a:r>
            <a:r>
              <a:rPr b="1" lang="en-US" sz="1100">
                <a:latin typeface="Arial"/>
                <a:ea typeface="Arial"/>
                <a:cs typeface="Arial"/>
                <a:sym typeface="Arial"/>
              </a:rPr>
              <a:t>𝞬)</a:t>
            </a:r>
            <a:r>
              <a:rPr lang="en-US" sz="1100">
                <a:latin typeface="Arial"/>
                <a:ea typeface="Arial"/>
                <a:cs typeface="Arial"/>
                <a:sym typeface="Arial"/>
              </a:rPr>
              <a:t> is the rate of leaving the infectious state. Two time-scale interpretations are very useful: average time in latency is approximately </a:t>
            </a:r>
            <a:r>
              <a:rPr b="1" lang="en-US" sz="1100">
                <a:latin typeface="Arial"/>
                <a:ea typeface="Arial"/>
                <a:cs typeface="Arial"/>
                <a:sym typeface="Arial"/>
              </a:rPr>
              <a:t>1/</a:t>
            </a:r>
            <a:r>
              <a:rPr b="1" lang="en-US" sz="1100">
                <a:latin typeface="Arial"/>
                <a:ea typeface="Arial"/>
                <a:cs typeface="Arial"/>
                <a:sym typeface="Arial"/>
              </a:rPr>
              <a:t>𝜿 (kappa)</a:t>
            </a:r>
            <a:r>
              <a:rPr lang="en-US" sz="1100">
                <a:latin typeface="Arial"/>
                <a:ea typeface="Arial"/>
                <a:cs typeface="Arial"/>
                <a:sym typeface="Arial"/>
              </a:rPr>
              <a:t>, and average time infectious is approximately </a:t>
            </a:r>
            <a:r>
              <a:rPr b="1" lang="en-US" sz="1100">
                <a:latin typeface="Arial"/>
                <a:ea typeface="Arial"/>
                <a:cs typeface="Arial"/>
                <a:sym typeface="Arial"/>
              </a:rPr>
              <a:t>1/</a:t>
            </a:r>
            <a:r>
              <a:rPr b="1" lang="en-US" sz="1100">
                <a:latin typeface="Arial"/>
                <a:ea typeface="Arial"/>
                <a:cs typeface="Arial"/>
                <a:sym typeface="Arial"/>
              </a:rPr>
              <a:t>𝞬 (</a:t>
            </a:r>
            <a:r>
              <a:rPr b="1" lang="en-US" sz="1100">
                <a:latin typeface="Arial"/>
                <a:ea typeface="Arial"/>
                <a:cs typeface="Arial"/>
                <a:sym typeface="Arial"/>
              </a:rPr>
              <a:t>gamma)</a:t>
            </a:r>
            <a:r>
              <a:rPr lang="en-US" sz="1100">
                <a:latin typeface="Arial"/>
                <a:ea typeface="Arial"/>
                <a:cs typeface="Arial"/>
                <a:sym typeface="Arial"/>
              </a:rPr>
              <a:t>. The important conceptual point is that new infections first accumulate in L, not in I, so incidence of infectious TB depends heavily on kappa and the size of the latent pool.</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45" name="Google Shape;45;g3b2efa3f2a9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b2efa3f2a9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 name="Google Shape;50;g3b2efa3f2a9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7 — TB: a useful heuristic threshold</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useful way to think about TB thresholds is to recognize that not everyone who becomes infected will eventually become infectious. If latent infection can also “clear” without progression at some rate </a:t>
            </a:r>
            <a:r>
              <a:rPr b="1" lang="en-US" sz="1100">
                <a:latin typeface="Arial"/>
                <a:ea typeface="Arial"/>
                <a:cs typeface="Arial"/>
                <a:sym typeface="Arial"/>
              </a:rPr>
              <a:t>omega</a:t>
            </a:r>
            <a:r>
              <a:rPr lang="en-US" sz="1100">
                <a:latin typeface="Arial"/>
                <a:ea typeface="Arial"/>
                <a:cs typeface="Arial"/>
                <a:sym typeface="Arial"/>
              </a:rPr>
              <a:t>, then the probability of progression is:</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prob(progress) = </a:t>
            </a:r>
            <a:r>
              <a:rPr b="1" lang="en-US" sz="1100">
                <a:latin typeface="Arial"/>
                <a:ea typeface="Arial"/>
                <a:cs typeface="Arial"/>
                <a:sym typeface="Arial"/>
              </a:rPr>
              <a:t>𝜿</a:t>
            </a:r>
            <a:r>
              <a:rPr b="1" lang="en-US" sz="1100">
                <a:latin typeface="Arial"/>
                <a:ea typeface="Arial"/>
                <a:cs typeface="Arial"/>
                <a:sym typeface="Arial"/>
              </a:rPr>
              <a:t> / (</a:t>
            </a:r>
            <a:r>
              <a:rPr b="1" lang="en-US" sz="1100">
                <a:latin typeface="Arial"/>
                <a:ea typeface="Arial"/>
                <a:cs typeface="Arial"/>
                <a:sym typeface="Arial"/>
              </a:rPr>
              <a:t>𝜿</a:t>
            </a:r>
            <a:r>
              <a:rPr b="1" lang="en-US" sz="1100">
                <a:latin typeface="Arial"/>
                <a:ea typeface="Arial"/>
                <a:cs typeface="Arial"/>
                <a:sym typeface="Arial"/>
              </a:rPr>
              <a:t> + 𝟂)</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clean heuristic form for R0 is then:</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R</a:t>
            </a:r>
            <a:r>
              <a:rPr b="1" baseline="-25000" lang="en-US" sz="1100">
                <a:latin typeface="Arial"/>
                <a:ea typeface="Arial"/>
                <a:cs typeface="Arial"/>
                <a:sym typeface="Arial"/>
              </a:rPr>
              <a:t>0</a:t>
            </a:r>
            <a:r>
              <a:rPr b="1" lang="en-US" sz="1100">
                <a:latin typeface="Arial"/>
                <a:ea typeface="Arial"/>
                <a:cs typeface="Arial"/>
                <a:sym typeface="Arial"/>
              </a:rPr>
              <a:t> = (𝞫 / </a:t>
            </a:r>
            <a:r>
              <a:rPr b="1" lang="en-US" sz="1100">
                <a:latin typeface="Arial"/>
                <a:ea typeface="Arial"/>
                <a:cs typeface="Arial"/>
                <a:sym typeface="Arial"/>
              </a:rPr>
              <a:t>𝞬</a:t>
            </a:r>
            <a:r>
              <a:rPr b="1" lang="en-US" sz="1100">
                <a:latin typeface="Arial"/>
                <a:ea typeface="Arial"/>
                <a:cs typeface="Arial"/>
                <a:sym typeface="Arial"/>
              </a:rPr>
              <a:t>) * (</a:t>
            </a:r>
            <a:r>
              <a:rPr b="1" lang="en-US" sz="1100">
                <a:latin typeface="Arial"/>
                <a:ea typeface="Arial"/>
                <a:cs typeface="Arial"/>
                <a:sym typeface="Arial"/>
              </a:rPr>
              <a:t>𝜿</a:t>
            </a:r>
            <a:r>
              <a:rPr b="1" lang="en-US" sz="1100">
                <a:latin typeface="Arial"/>
                <a:ea typeface="Arial"/>
                <a:cs typeface="Arial"/>
                <a:sym typeface="Arial"/>
              </a:rPr>
              <a:t> / (</a:t>
            </a:r>
            <a:r>
              <a:rPr b="1" lang="en-US" sz="1100">
                <a:latin typeface="Arial"/>
                <a:ea typeface="Arial"/>
                <a:cs typeface="Arial"/>
                <a:sym typeface="Arial"/>
              </a:rPr>
              <a:t>𝜿</a:t>
            </a:r>
            <a:r>
              <a:rPr b="1" lang="en-US" sz="1100">
                <a:latin typeface="Arial"/>
                <a:ea typeface="Arial"/>
                <a:cs typeface="Arial"/>
                <a:sym typeface="Arial"/>
              </a:rPr>
              <a:t> + </a:t>
            </a:r>
            <a:r>
              <a:rPr b="1" lang="en-US" sz="1100">
                <a:latin typeface="Arial"/>
                <a:ea typeface="Arial"/>
                <a:cs typeface="Arial"/>
                <a:sym typeface="Arial"/>
              </a:rPr>
              <a:t>𝟂</a:t>
            </a:r>
            <a:r>
              <a:rPr b="1" lang="en-US" sz="1100">
                <a:latin typeface="Arial"/>
                <a:ea typeface="Arial"/>
                <a:cs typeface="Arial"/>
                <a:sym typeface="Arial"/>
              </a:rPr>
              <a:t>))</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reads naturally: </a:t>
            </a:r>
            <a:r>
              <a:rPr b="1" lang="en-US" sz="1100">
                <a:latin typeface="Arial"/>
                <a:ea typeface="Arial"/>
                <a:cs typeface="Arial"/>
                <a:sym typeface="Arial"/>
              </a:rPr>
              <a:t>𝞫 / 𝞬</a:t>
            </a:r>
            <a:r>
              <a:rPr lang="en-US" sz="1100">
                <a:latin typeface="Arial"/>
                <a:ea typeface="Arial"/>
                <a:cs typeface="Arial"/>
                <a:sym typeface="Arial"/>
              </a:rPr>
              <a:t> is the familiar “transmission potential per infectious person,” and the progression fraction adjusts for the fact that TB spends time in latency and may never progress. This makes the control message very clear: TB control is not only about lowering beta(</a:t>
            </a:r>
            <a:r>
              <a:rPr b="1" lang="en-US" sz="1100">
                <a:latin typeface="Arial"/>
                <a:ea typeface="Arial"/>
                <a:cs typeface="Arial"/>
                <a:sym typeface="Arial"/>
              </a:rPr>
              <a:t>𝞫)</a:t>
            </a:r>
            <a:r>
              <a:rPr lang="en-US" sz="1100">
                <a:latin typeface="Arial"/>
                <a:ea typeface="Arial"/>
                <a:cs typeface="Arial"/>
                <a:sym typeface="Arial"/>
              </a:rPr>
              <a:t>. It can also work by reducing progression (lower kappa(</a:t>
            </a:r>
            <a:r>
              <a:rPr b="1" lang="en-US" sz="1100">
                <a:latin typeface="Arial"/>
                <a:ea typeface="Arial"/>
                <a:cs typeface="Arial"/>
                <a:sym typeface="Arial"/>
              </a:rPr>
              <a:t>𝜿)</a:t>
            </a:r>
            <a:r>
              <a:rPr lang="en-US" sz="1100">
                <a:latin typeface="Arial"/>
                <a:ea typeface="Arial"/>
                <a:cs typeface="Arial"/>
                <a:sym typeface="Arial"/>
              </a:rPr>
              <a:t> or higher omega(</a:t>
            </a:r>
            <a:r>
              <a:rPr b="1" lang="en-US" sz="1100">
                <a:latin typeface="Arial"/>
                <a:ea typeface="Arial"/>
                <a:cs typeface="Arial"/>
                <a:sym typeface="Arial"/>
              </a:rPr>
              <a:t>𝟂)</a:t>
            </a:r>
            <a:r>
              <a:rPr lang="en-US" sz="1100">
                <a:latin typeface="Arial"/>
                <a:ea typeface="Arial"/>
                <a:cs typeface="Arial"/>
                <a:sym typeface="Arial"/>
              </a:rPr>
              <a:t>) and by shortening infectious duration (higher effective gamma(</a:t>
            </a:r>
            <a:r>
              <a:rPr b="1" lang="en-US" sz="1100">
                <a:latin typeface="Arial"/>
                <a:ea typeface="Arial"/>
                <a:cs typeface="Arial"/>
                <a:sym typeface="Arial"/>
              </a:rPr>
              <a:t>𝞬</a:t>
            </a:r>
            <a:r>
              <a:rPr lang="en-US" sz="1100">
                <a:latin typeface="Arial"/>
                <a:ea typeface="Arial"/>
                <a:cs typeface="Arial"/>
                <a:sym typeface="Arial"/>
              </a:rPr>
              <a:t>) through rapid diagnosis and treatment).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51" name="Google Shape;51;g3b2efa3f2a9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b2efa3f2a9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 name="Google Shape;56;g3b2efa3f2a9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8 — TB: reinfection (partial immunity)</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TB, people who are latently infected may still be reinfected, but often at a reduced susceptibility compared to fully susceptible individuals. A simple way to represent that is to let latent individuals experience infection pressure scaled by </a:t>
            </a:r>
            <a:r>
              <a:rPr b="1" lang="en-US" sz="1100">
                <a:latin typeface="Arial"/>
                <a:ea typeface="Arial"/>
                <a:cs typeface="Arial"/>
                <a:sym typeface="Arial"/>
              </a:rPr>
              <a:t>rho(𝝆)</a:t>
            </a:r>
            <a:r>
              <a:rPr lang="en-US" sz="1100">
                <a:latin typeface="Arial"/>
                <a:ea typeface="Arial"/>
                <a:cs typeface="Arial"/>
                <a:sym typeface="Arial"/>
              </a:rPr>
              <a:t>, where 0 ≤ rho(</a:t>
            </a:r>
            <a:r>
              <a:rPr b="1" lang="en-US" sz="1100">
                <a:latin typeface="Arial"/>
                <a:ea typeface="Arial"/>
                <a:cs typeface="Arial"/>
                <a:sym typeface="Arial"/>
              </a:rPr>
              <a:t>𝝆)</a:t>
            </a:r>
            <a:r>
              <a:rPr lang="en-US" sz="1100">
                <a:latin typeface="Arial"/>
                <a:ea typeface="Arial"/>
                <a:cs typeface="Arial"/>
                <a:sym typeface="Arial"/>
              </a:rPr>
              <a:t> ≤ 1. If rho = 0, latent individuals are fully protected from reinfection; if rho is near 1, they are almost as susceptible as susceptibles. Conceptually, reinfection matters because it increases persistence: transmission can continue to “feed” the latent pool even when susceptible numbers shrink. One simple modelling modification is to include reinfection into the latent equation:</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dL/dt = lambda</a:t>
            </a:r>
            <a:r>
              <a:rPr b="1" i="1" lang="en-US" sz="1100">
                <a:latin typeface="Arial"/>
                <a:ea typeface="Arial"/>
                <a:cs typeface="Arial"/>
                <a:sym typeface="Arial"/>
              </a:rPr>
              <a:t>S - kappa</a:t>
            </a:r>
            <a:r>
              <a:rPr b="1" lang="en-US" sz="1100">
                <a:latin typeface="Arial"/>
                <a:ea typeface="Arial"/>
                <a:cs typeface="Arial"/>
                <a:sym typeface="Arial"/>
              </a:rPr>
              <a:t>L + rho</a:t>
            </a:r>
            <a:r>
              <a:rPr b="1" i="1" lang="en-US" sz="1100">
                <a:latin typeface="Arial"/>
                <a:ea typeface="Arial"/>
                <a:cs typeface="Arial"/>
                <a:sym typeface="Arial"/>
              </a:rPr>
              <a:t>lambda</a:t>
            </a:r>
            <a:r>
              <a:rPr b="1" lang="en-US" sz="1100">
                <a:latin typeface="Arial"/>
                <a:ea typeface="Arial"/>
                <a:cs typeface="Arial"/>
                <a:sym typeface="Arial"/>
              </a:rPr>
              <a:t>L</a:t>
            </a:r>
            <a:br>
              <a:rPr b="1" lang="en-US" sz="1100">
                <a:latin typeface="Arial"/>
                <a:ea typeface="Arial"/>
                <a:cs typeface="Arial"/>
                <a:sym typeface="Arial"/>
              </a:rPr>
            </a:br>
            <a:r>
              <a:rPr lang="en-US" sz="1100">
                <a:latin typeface="Arial"/>
                <a:ea typeface="Arial"/>
                <a:cs typeface="Arial"/>
                <a:sym typeface="Arial"/>
              </a:rPr>
              <a:t> The exam-level reasoning is to explain what rho means and what happens as rho increases: more sustained transmission, more difficulty achieving control, and more value from interventions that reduce exposure.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57" name="Google Shape;57;g3b2efa3f2a9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2efa3f2a9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2efa3f2a9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9 — TB: treatment as a programmatic lever</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Treatment enters TB models as a way to shorten infectious duration and reduce onward transmission. A simple extension adds a treatment compartment T and a treatment initiation rate tau. One illustrative structure is:</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dI/dt</a:t>
            </a:r>
            <a:r>
              <a:rPr lang="en-US" sz="1100">
                <a:latin typeface="Arial"/>
                <a:ea typeface="Arial"/>
                <a:cs typeface="Arial"/>
                <a:sym typeface="Arial"/>
              </a:rPr>
              <a:t> = 𝜿</a:t>
            </a:r>
            <a:r>
              <a:rPr b="1" i="1" lang="en-US" sz="1100">
                <a:latin typeface="Arial"/>
                <a:ea typeface="Arial"/>
                <a:cs typeface="Arial"/>
                <a:sym typeface="Arial"/>
              </a:rPr>
              <a:t>L</a:t>
            </a:r>
            <a:r>
              <a:rPr i="1" lang="en-US" sz="1100">
                <a:latin typeface="Arial"/>
                <a:ea typeface="Arial"/>
                <a:cs typeface="Arial"/>
                <a:sym typeface="Arial"/>
              </a:rPr>
              <a:t> –</a:t>
            </a:r>
            <a:r>
              <a:rPr b="1" i="1" lang="en-US" sz="1100">
                <a:latin typeface="Arial"/>
                <a:ea typeface="Arial"/>
                <a:cs typeface="Arial"/>
                <a:sym typeface="Arial"/>
              </a:rPr>
              <a:t> (</a:t>
            </a:r>
            <a:r>
              <a:rPr i="1" lang="en-US" sz="1100">
                <a:latin typeface="Arial"/>
                <a:ea typeface="Arial"/>
                <a:cs typeface="Arial"/>
                <a:sym typeface="Arial"/>
              </a:rPr>
              <a:t>𝞬  </a:t>
            </a:r>
            <a:r>
              <a:rPr b="1" i="1" lang="en-US" sz="1100">
                <a:latin typeface="Arial"/>
                <a:ea typeface="Arial"/>
                <a:cs typeface="Arial"/>
                <a:sym typeface="Arial"/>
              </a:rPr>
              <a:t>+ </a:t>
            </a:r>
            <a:r>
              <a:rPr b="1" i="1" lang="en-US" sz="1100">
                <a:latin typeface="Arial"/>
                <a:ea typeface="Arial"/>
                <a:cs typeface="Arial"/>
                <a:sym typeface="Arial"/>
              </a:rPr>
              <a:t>𝝉</a:t>
            </a:r>
            <a:r>
              <a:rPr b="1" i="1" lang="en-US" sz="1100">
                <a:latin typeface="Arial"/>
                <a:ea typeface="Arial"/>
                <a:cs typeface="Arial"/>
                <a:sym typeface="Arial"/>
              </a:rPr>
              <a:t>)I</a:t>
            </a:r>
            <a:br>
              <a:rPr i="1"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dT/dt = </a:t>
            </a:r>
            <a:r>
              <a:rPr b="1" i="1" lang="en-US" sz="1100">
                <a:latin typeface="Arial"/>
                <a:ea typeface="Arial"/>
                <a:cs typeface="Arial"/>
                <a:sym typeface="Arial"/>
              </a:rPr>
              <a:t>𝝉</a:t>
            </a:r>
            <a:r>
              <a:rPr b="1" i="1" lang="en-US" sz="1100">
                <a:latin typeface="Arial"/>
                <a:ea typeface="Arial"/>
                <a:cs typeface="Arial"/>
                <a:sym typeface="Arial"/>
              </a:rPr>
              <a:t>I – 𝜹</a:t>
            </a:r>
            <a:r>
              <a:rPr b="1" lang="en-US" sz="1100">
                <a:latin typeface="Arial"/>
                <a:ea typeface="Arial"/>
                <a:cs typeface="Arial"/>
                <a:sym typeface="Arial"/>
              </a:rPr>
              <a:t>T</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a:t>
            </a:r>
            <a:r>
              <a:rPr b="1" lang="en-US" sz="1100">
                <a:latin typeface="Arial"/>
                <a:ea typeface="Arial"/>
                <a:cs typeface="Arial"/>
                <a:sym typeface="Arial"/>
              </a:rPr>
              <a:t>tau(</a:t>
            </a:r>
            <a:r>
              <a:rPr b="1" i="1" lang="en-US" sz="1100">
                <a:latin typeface="Arial"/>
                <a:ea typeface="Arial"/>
                <a:cs typeface="Arial"/>
                <a:sym typeface="Arial"/>
              </a:rPr>
              <a:t>𝝉)</a:t>
            </a:r>
            <a:r>
              <a:rPr lang="en-US" sz="1100">
                <a:latin typeface="Arial"/>
                <a:ea typeface="Arial"/>
                <a:cs typeface="Arial"/>
                <a:sym typeface="Arial"/>
              </a:rPr>
              <a:t> is the rate at which infectious individuals start effective treatment—this captures case finding, diagnosis, and linkage. </a:t>
            </a:r>
            <a:r>
              <a:rPr b="1" lang="en-US" sz="1100">
                <a:latin typeface="Arial"/>
                <a:ea typeface="Arial"/>
                <a:cs typeface="Arial"/>
                <a:sym typeface="Arial"/>
              </a:rPr>
              <a:t>delta(</a:t>
            </a:r>
            <a:r>
              <a:rPr b="1" i="1" lang="en-US" sz="1100">
                <a:latin typeface="Arial"/>
                <a:ea typeface="Arial"/>
                <a:cs typeface="Arial"/>
                <a:sym typeface="Arial"/>
              </a:rPr>
              <a:t>𝜹)</a:t>
            </a:r>
            <a:r>
              <a:rPr lang="en-US" sz="1100">
                <a:latin typeface="Arial"/>
                <a:ea typeface="Arial"/>
                <a:cs typeface="Arial"/>
                <a:sym typeface="Arial"/>
              </a:rPr>
              <a:t> is the rate of completing treatment successfully. The key interpretation is that raising tau(</a:t>
            </a:r>
            <a:r>
              <a:rPr b="1" i="1" lang="en-US" sz="1100">
                <a:latin typeface="Arial"/>
                <a:ea typeface="Arial"/>
                <a:cs typeface="Arial"/>
                <a:sym typeface="Arial"/>
              </a:rPr>
              <a:t>𝝉)</a:t>
            </a:r>
            <a:r>
              <a:rPr lang="en-US" sz="1100">
                <a:latin typeface="Arial"/>
                <a:ea typeface="Arial"/>
                <a:cs typeface="Arial"/>
                <a:sym typeface="Arial"/>
              </a:rPr>
              <a:t> reduces the average time a person spends infectious in the community, which lowers transmission. Raising delta</a:t>
            </a:r>
            <a:r>
              <a:rPr b="1" lang="en-US" sz="1100">
                <a:latin typeface="Arial"/>
                <a:ea typeface="Arial"/>
                <a:cs typeface="Arial"/>
                <a:sym typeface="Arial"/>
              </a:rPr>
              <a:t>(</a:t>
            </a:r>
            <a:r>
              <a:rPr b="1" i="1" lang="en-US" sz="1100">
                <a:latin typeface="Arial"/>
                <a:ea typeface="Arial"/>
                <a:cs typeface="Arial"/>
                <a:sym typeface="Arial"/>
              </a:rPr>
              <a:t>𝜹)</a:t>
            </a:r>
            <a:r>
              <a:rPr lang="en-US" sz="1100">
                <a:latin typeface="Arial"/>
                <a:ea typeface="Arial"/>
                <a:cs typeface="Arial"/>
                <a:sym typeface="Arial"/>
              </a:rPr>
              <a:t> improves throughput and reduces prolonged infectiousness due to failure or default. In real program terms, tau</a:t>
            </a:r>
            <a:r>
              <a:rPr lang="en-US" sz="1100">
                <a:latin typeface="Arial"/>
                <a:ea typeface="Arial"/>
                <a:cs typeface="Arial"/>
                <a:sym typeface="Arial"/>
              </a:rPr>
              <a:t>(</a:t>
            </a:r>
            <a:r>
              <a:rPr b="1" i="1" lang="en-US" sz="1100">
                <a:latin typeface="Arial"/>
                <a:ea typeface="Arial"/>
                <a:cs typeface="Arial"/>
                <a:sym typeface="Arial"/>
              </a:rPr>
              <a:t>𝝉)</a:t>
            </a:r>
            <a:r>
              <a:rPr lang="en-US" sz="1100">
                <a:latin typeface="Arial"/>
                <a:ea typeface="Arial"/>
                <a:cs typeface="Arial"/>
                <a:sym typeface="Arial"/>
              </a:rPr>
              <a:t> </a:t>
            </a:r>
            <a:r>
              <a:rPr lang="en-US" sz="1100">
                <a:latin typeface="Arial"/>
                <a:ea typeface="Arial"/>
                <a:cs typeface="Arial"/>
                <a:sym typeface="Arial"/>
              </a:rPr>
              <a:t> improves with better screening and faster diagnostics, and delta</a:t>
            </a:r>
            <a:r>
              <a:rPr b="1" lang="en-US" sz="1100">
                <a:latin typeface="Arial"/>
                <a:ea typeface="Arial"/>
                <a:cs typeface="Arial"/>
                <a:sym typeface="Arial"/>
              </a:rPr>
              <a:t>(</a:t>
            </a:r>
            <a:r>
              <a:rPr b="1" i="1" lang="en-US" sz="1100">
                <a:latin typeface="Arial"/>
                <a:ea typeface="Arial"/>
                <a:cs typeface="Arial"/>
                <a:sym typeface="Arial"/>
              </a:rPr>
              <a:t>𝜹)</a:t>
            </a:r>
            <a:r>
              <a:rPr lang="en-US" sz="1100">
                <a:latin typeface="Arial"/>
                <a:ea typeface="Arial"/>
                <a:cs typeface="Arial"/>
                <a:sym typeface="Arial"/>
              </a:rPr>
              <a:t> improves with adherence support and reliable drug supply.</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63" name="Google Shape;63;g3b2efa3f2a9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2efa3f2a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2efa3f2a9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10 — TB: MDR as a two-strain extension</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Drug resistance is naturally represented by splitting the infectious class into two compartments: drug-sensitive infectious TB (</a:t>
            </a:r>
            <a:r>
              <a:rPr b="1" i="1" lang="en-US" sz="1100">
                <a:latin typeface="Arial"/>
                <a:ea typeface="Arial"/>
                <a:cs typeface="Arial"/>
                <a:sym typeface="Arial"/>
              </a:rPr>
              <a:t>I</a:t>
            </a:r>
            <a:r>
              <a:rPr b="1" baseline="-25000" i="1" lang="en-US" sz="1100">
                <a:latin typeface="Arial"/>
                <a:ea typeface="Arial"/>
                <a:cs typeface="Arial"/>
                <a:sym typeface="Arial"/>
              </a:rPr>
              <a:t>s</a:t>
            </a:r>
            <a:r>
              <a:rPr lang="en-US" sz="1100">
                <a:latin typeface="Arial"/>
                <a:ea typeface="Arial"/>
                <a:cs typeface="Arial"/>
                <a:sym typeface="Arial"/>
              </a:rPr>
              <a:t>) and drug-resistant infectious TB (</a:t>
            </a:r>
            <a:r>
              <a:rPr b="1" i="1" lang="en-US" sz="1100">
                <a:latin typeface="Arial"/>
                <a:ea typeface="Arial"/>
                <a:cs typeface="Arial"/>
                <a:sym typeface="Arial"/>
              </a:rPr>
              <a:t>I</a:t>
            </a:r>
            <a:r>
              <a:rPr b="1" baseline="-25000" i="1" lang="en-US" sz="1100">
                <a:latin typeface="Arial"/>
                <a:ea typeface="Arial"/>
                <a:cs typeface="Arial"/>
                <a:sym typeface="Arial"/>
              </a:rPr>
              <a:t>r</a:t>
            </a:r>
            <a:r>
              <a:rPr lang="en-US" sz="1100">
                <a:latin typeface="Arial"/>
                <a:ea typeface="Arial"/>
                <a:cs typeface="Arial"/>
                <a:sym typeface="Arial"/>
              </a:rPr>
              <a:t>). The resistant class may have different treatment success, different duration of infectiousness, and different transmission consequences. A key additional mechanism is “acquired resistance” during inadequate treatment, which can be represented as flow from </a:t>
            </a:r>
            <a:r>
              <a:rPr i="1" lang="en-US" sz="1100">
                <a:latin typeface="Arial"/>
                <a:ea typeface="Arial"/>
                <a:cs typeface="Arial"/>
                <a:sym typeface="Arial"/>
              </a:rPr>
              <a:t>I</a:t>
            </a:r>
            <a:r>
              <a:rPr baseline="-25000" i="1" lang="en-US" sz="1100">
                <a:latin typeface="Arial"/>
                <a:ea typeface="Arial"/>
                <a:cs typeface="Arial"/>
                <a:sym typeface="Arial"/>
              </a:rPr>
              <a:t>s</a:t>
            </a:r>
            <a:r>
              <a:rPr lang="en-US" sz="1100">
                <a:latin typeface="Arial"/>
                <a:ea typeface="Arial"/>
                <a:cs typeface="Arial"/>
                <a:sym typeface="Arial"/>
              </a:rPr>
              <a:t> to </a:t>
            </a:r>
            <a:r>
              <a:rPr i="1" lang="en-US" sz="1100">
                <a:latin typeface="Arial"/>
                <a:ea typeface="Arial"/>
                <a:cs typeface="Arial"/>
                <a:sym typeface="Arial"/>
              </a:rPr>
              <a:t>I</a:t>
            </a:r>
            <a:r>
              <a:rPr baseline="-25000" i="1" lang="en-US" sz="1100">
                <a:latin typeface="Arial"/>
                <a:ea typeface="Arial"/>
                <a:cs typeface="Arial"/>
                <a:sym typeface="Arial"/>
              </a:rPr>
              <a:t>r</a:t>
            </a:r>
            <a:r>
              <a:rPr lang="en-US" sz="1100">
                <a:latin typeface="Arial"/>
                <a:ea typeface="Arial"/>
                <a:cs typeface="Arial"/>
                <a:sym typeface="Arial"/>
              </a:rPr>
              <a:t> at a rate eta(𝜼):</a:t>
            </a:r>
            <a:br>
              <a:rPr lang="en-US" sz="1100">
                <a:latin typeface="Arial"/>
                <a:ea typeface="Arial"/>
                <a:cs typeface="Arial"/>
                <a:sym typeface="Arial"/>
              </a:rPr>
            </a:br>
            <a:r>
              <a:rPr lang="en-US" sz="1100">
                <a:latin typeface="Arial"/>
                <a:ea typeface="Arial"/>
                <a:cs typeface="Arial"/>
                <a:sym typeface="Arial"/>
              </a:rPr>
              <a:t> </a:t>
            </a:r>
            <a:r>
              <a:rPr b="1" i="1" lang="en-US" sz="1100">
                <a:latin typeface="Arial"/>
                <a:ea typeface="Arial"/>
                <a:cs typeface="Arial"/>
                <a:sym typeface="Arial"/>
              </a:rPr>
              <a:t>I</a:t>
            </a:r>
            <a:r>
              <a:rPr b="1" baseline="-25000" i="1" lang="en-US" sz="1100">
                <a:latin typeface="Arial"/>
                <a:ea typeface="Arial"/>
                <a:cs typeface="Arial"/>
                <a:sym typeface="Arial"/>
              </a:rPr>
              <a:t>s</a:t>
            </a:r>
            <a:r>
              <a:rPr b="1" lang="en-US" sz="1100">
                <a:latin typeface="Arial"/>
                <a:ea typeface="Arial"/>
                <a:cs typeface="Arial"/>
                <a:sym typeface="Arial"/>
              </a:rPr>
              <a:t> →</a:t>
            </a:r>
            <a:r>
              <a:rPr b="1" i="1" lang="en-US" sz="1100">
                <a:latin typeface="Arial"/>
                <a:ea typeface="Arial"/>
                <a:cs typeface="Arial"/>
                <a:sym typeface="Arial"/>
              </a:rPr>
              <a:t>I</a:t>
            </a:r>
            <a:r>
              <a:rPr b="1" baseline="-25000" i="1" lang="en-US" sz="1100">
                <a:latin typeface="Arial"/>
                <a:ea typeface="Arial"/>
                <a:cs typeface="Arial"/>
                <a:sym typeface="Arial"/>
              </a:rPr>
              <a:t>r</a:t>
            </a:r>
            <a:r>
              <a:rPr b="1" lang="en-US" sz="1100">
                <a:latin typeface="Arial"/>
                <a:ea typeface="Arial"/>
                <a:cs typeface="Arial"/>
                <a:sym typeface="Arial"/>
              </a:rPr>
              <a:t> at rate eta(</a:t>
            </a:r>
            <a:r>
              <a:rPr lang="en-US" sz="1100">
                <a:latin typeface="Arial"/>
                <a:ea typeface="Arial"/>
                <a:cs typeface="Arial"/>
                <a:sym typeface="Arial"/>
              </a:rPr>
              <a:t>𝜼)</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interpretation is straightforward: even if drug-sensitive TB is controlled, resistant TB can expand if acquisition during treatment is common or if resistant TB has longer infectious duration due to poorer treatment outcomes. Programmatically, this highlights why good treatment is not just “patient benefit”; it is also resistance prevention. Exam questions usually focus on how you would structure the model and what program implication follows from the structure.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69" name="Google Shape;69;g3b2efa3f2a9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2efa3f2a9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2efa3f2a9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11 — TB: what data estimate what?</a:t>
            </a:r>
            <a:endParaRPr b="1" sz="17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Different TB parameters are informed by different kinds of data. Transmission parameters like beta are often indirectly inferred by fitting incidence or prevalence trends, but they are sensitive to reporting and mixing assumptions. Treatment parameters can be more directly informed: tau relates to diagnosis-to-treatment delay and case-finding intensity; delta relates to treatment completion and cure rates in program registers. Progression parameters like kappa and clearance parameters like omega are much harder to estimate from routine surveillance alone and often come from cohort studies or are calibrated. For MDR extensions, acquisition or resistance-related parameters are informed by treatment failure, relapse, and lab-confirmed resistance patterns. The point is: good modelling uses measured program data where possible and reserves curve-fitting for what cannot be measured directly.</a:t>
            </a:r>
            <a:endParaRPr/>
          </a:p>
        </p:txBody>
      </p:sp>
      <p:sp>
        <p:nvSpPr>
          <p:cNvPr id="75" name="Google Shape;75;g3b2efa3f2a9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2efa3f2a9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2efa3f2a9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12 — Part 2</a:t>
            </a:r>
            <a:endParaRPr b="1" sz="17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Now the session switches from TB to malaria. The modelling mindset stays the same: we identify the biology that forces the model structure, define the key parameters, then interpret R</a:t>
            </a:r>
            <a:r>
              <a:rPr baseline="-25000" lang="en-US" sz="1100">
                <a:latin typeface="Arial"/>
                <a:ea typeface="Arial"/>
                <a:cs typeface="Arial"/>
                <a:sym typeface="Arial"/>
              </a:rPr>
              <a:t>0</a:t>
            </a:r>
            <a:r>
              <a:rPr lang="en-US" sz="1100">
                <a:latin typeface="Arial"/>
                <a:ea typeface="Arial"/>
                <a:cs typeface="Arial"/>
                <a:sym typeface="Arial"/>
              </a:rPr>
              <a:t> and intervention levers. What changes is the mechanism of transmission. For malaria, transmission is not direct human-to-human. It is mediated by mosquitoes, so we must represent humans and vectors explicitly.</a:t>
            </a:r>
            <a:endParaRPr/>
          </a:p>
        </p:txBody>
      </p:sp>
      <p:sp>
        <p:nvSpPr>
          <p:cNvPr id="81" name="Google Shape;81;g3b2efa3f2a9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2efa3f2a9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2efa3f2a9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13 — Malaria: why vectors must be in the model</a:t>
            </a:r>
            <a:endParaRPr b="1" sz="17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Malaria cannot be modelled properly as a simple SIR in humans alone, because transmission occurs through the vector. The infectious human does not infect another human directly; the infectious human infects a mosquito, and that mosquito later infects a human. This creates two linked infection processes and introduces new parameters that are not optional: biting rate, mosquito density, mosquito death rate, and mosquito incubation.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model must reflect the ecological reality that mosquito survival is a major determinant of transmission potential. This is also why malaria often shows strong seasonality: vector density and biting behaviour respond to rainfall and temperature. So malaria modelling is not just infection dynamics—it is infection dynamics interacting with vector ecology.</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87" name="Google Shape;87;g3b2efa3f2a9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2efa3f2a9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2efa3f2a9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14 — Host–vector transmission loop</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minimal malaria model uses humans and mosquitoes. For humans we often use compartments like </a:t>
            </a:r>
            <a:r>
              <a:rPr b="1" i="1" lang="en-US" sz="1100">
                <a:latin typeface="Arial"/>
                <a:ea typeface="Arial"/>
                <a:cs typeface="Arial"/>
                <a:sym typeface="Arial"/>
              </a:rPr>
              <a:t>S</a:t>
            </a:r>
            <a:r>
              <a:rPr b="1" baseline="-25000" i="1" lang="en-US" sz="1100">
                <a:latin typeface="Arial"/>
                <a:ea typeface="Arial"/>
                <a:cs typeface="Arial"/>
                <a:sym typeface="Arial"/>
              </a:rPr>
              <a:t>h</a:t>
            </a:r>
            <a:r>
              <a:rPr lang="en-US" sz="1100">
                <a:latin typeface="Arial"/>
                <a:ea typeface="Arial"/>
                <a:cs typeface="Arial"/>
                <a:sym typeface="Arial"/>
              </a:rPr>
              <a:t> and </a:t>
            </a:r>
            <a:r>
              <a:rPr b="1" i="1" lang="en-US" sz="1100">
                <a:latin typeface="Arial"/>
                <a:ea typeface="Arial"/>
                <a:cs typeface="Arial"/>
                <a:sym typeface="Arial"/>
              </a:rPr>
              <a:t>I</a:t>
            </a:r>
            <a:r>
              <a:rPr b="1" baseline="-25000" i="1" lang="en-US" sz="1100">
                <a:latin typeface="Arial"/>
                <a:ea typeface="Arial"/>
                <a:cs typeface="Arial"/>
                <a:sym typeface="Arial"/>
              </a:rPr>
              <a:t>h</a:t>
            </a:r>
            <a:r>
              <a:rPr lang="en-US" sz="1100">
                <a:latin typeface="Arial"/>
                <a:ea typeface="Arial"/>
                <a:cs typeface="Arial"/>
                <a:sym typeface="Arial"/>
              </a:rPr>
              <a:t>, and for vectors we use </a:t>
            </a:r>
            <a:r>
              <a:rPr b="1" i="1" lang="en-US" sz="1100">
                <a:latin typeface="Arial"/>
                <a:ea typeface="Arial"/>
                <a:cs typeface="Arial"/>
                <a:sym typeface="Arial"/>
              </a:rPr>
              <a:t>S</a:t>
            </a:r>
            <a:r>
              <a:rPr b="1" baseline="-25000" i="1" lang="en-US" sz="1100">
                <a:latin typeface="Arial"/>
                <a:ea typeface="Arial"/>
                <a:cs typeface="Arial"/>
                <a:sym typeface="Arial"/>
              </a:rPr>
              <a:t>v</a:t>
            </a:r>
            <a:r>
              <a:rPr lang="en-US" sz="1100">
                <a:latin typeface="Arial"/>
                <a:ea typeface="Arial"/>
                <a:cs typeface="Arial"/>
                <a:sym typeface="Arial"/>
              </a:rPr>
              <a:t> and </a:t>
            </a:r>
            <a:r>
              <a:rPr b="1" i="1" lang="en-US" sz="1100">
                <a:latin typeface="Arial"/>
                <a:ea typeface="Arial"/>
                <a:cs typeface="Arial"/>
                <a:sym typeface="Arial"/>
              </a:rPr>
              <a:t>I</a:t>
            </a:r>
            <a:r>
              <a:rPr b="1" baseline="-25000" i="1" lang="en-US" sz="1100">
                <a:latin typeface="Arial"/>
                <a:ea typeface="Arial"/>
                <a:cs typeface="Arial"/>
                <a:sym typeface="Arial"/>
              </a:rPr>
              <a:t>v</a:t>
            </a:r>
            <a:r>
              <a:rPr lang="en-US" sz="1100">
                <a:latin typeface="Arial"/>
                <a:ea typeface="Arial"/>
                <a:cs typeface="Arial"/>
                <a:sym typeface="Arial"/>
              </a:rPr>
              <a:t>. The critical feature is the two-way loop: infectious mosquitoes produce new human infections, and infectious humans produce new mosquito infections. This loop is expressed through two forces of infection: one for humans driven by the fraction of infectious mosquitoes, and one for mosquitoes driven by the fraction of infectious humans. Once that is clear, the structure of the differential equations becomes intuitive: each infectious compartment increases from its own force of infection multiplied by susceptibles, and decreases by recovery or death. The key insight is that interrupting either side of the loop can disrupt transmission.</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93" name="Google Shape;93;g3b2efa3f2a9_0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2efa3f2a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2efa3f2a9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15 — Malaria: forces of infection</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malaria, the forces of infection are typically written as:</a:t>
            </a:r>
            <a:br>
              <a:rPr lang="en-US" sz="1100">
                <a:latin typeface="Arial"/>
                <a:ea typeface="Arial"/>
                <a:cs typeface="Arial"/>
                <a:sym typeface="Arial"/>
              </a:rPr>
            </a:br>
            <a:br>
              <a:rPr lang="en-US" sz="1100">
                <a:latin typeface="Arial"/>
                <a:ea typeface="Arial"/>
                <a:cs typeface="Arial"/>
                <a:sym typeface="Arial"/>
              </a:rPr>
            </a:br>
            <a:r>
              <a:rPr b="1" lang="en-US" sz="1100">
                <a:latin typeface="Arial"/>
                <a:ea typeface="Arial"/>
                <a:cs typeface="Arial"/>
                <a:sym typeface="Arial"/>
              </a:rPr>
              <a:t>lambda_h = a * b * (I_v / N_v) </a:t>
            </a:r>
            <a:br>
              <a:rPr b="1" lang="en-US" sz="1100">
                <a:latin typeface="Arial"/>
                <a:ea typeface="Arial"/>
                <a:cs typeface="Arial"/>
                <a:sym typeface="Arial"/>
              </a:rPr>
            </a:br>
            <a:br>
              <a:rPr b="1" lang="en-US" sz="1100">
                <a:latin typeface="Arial"/>
                <a:ea typeface="Arial"/>
                <a:cs typeface="Arial"/>
                <a:sym typeface="Arial"/>
              </a:rPr>
            </a:br>
            <a:r>
              <a:rPr b="1" lang="en-US" sz="1100">
                <a:latin typeface="Arial"/>
                <a:ea typeface="Arial"/>
                <a:cs typeface="Arial"/>
                <a:sym typeface="Arial"/>
              </a:rPr>
              <a:t>𝝀</a:t>
            </a:r>
            <a:r>
              <a:rPr b="1" baseline="-25000" lang="en-US" sz="1100">
                <a:latin typeface="Arial"/>
                <a:ea typeface="Arial"/>
                <a:cs typeface="Arial"/>
                <a:sym typeface="Arial"/>
              </a:rPr>
              <a:t>h</a:t>
            </a:r>
            <a:r>
              <a:rPr b="1" lang="en-US" sz="1100">
                <a:latin typeface="Arial"/>
                <a:ea typeface="Arial"/>
                <a:cs typeface="Arial"/>
                <a:sym typeface="Arial"/>
              </a:rPr>
              <a:t> = ab(I</a:t>
            </a:r>
            <a:r>
              <a:rPr b="1" baseline="-25000" lang="en-US" sz="1100">
                <a:latin typeface="Arial"/>
                <a:ea typeface="Arial"/>
                <a:cs typeface="Arial"/>
                <a:sym typeface="Arial"/>
              </a:rPr>
              <a:t>v</a:t>
            </a:r>
            <a:r>
              <a:rPr b="1" lang="en-US" sz="1100">
                <a:latin typeface="Arial"/>
                <a:ea typeface="Arial"/>
                <a:cs typeface="Arial"/>
                <a:sym typeface="Arial"/>
              </a:rPr>
              <a:t>/N</a:t>
            </a:r>
            <a:r>
              <a:rPr b="1" baseline="-25000" lang="en-US" sz="1100">
                <a:latin typeface="Arial"/>
                <a:ea typeface="Arial"/>
                <a:cs typeface="Arial"/>
                <a:sym typeface="Arial"/>
              </a:rPr>
              <a:t>v</a:t>
            </a:r>
            <a:r>
              <a:rPr b="1" lang="en-US" sz="1100">
                <a:latin typeface="Arial"/>
                <a:ea typeface="Arial"/>
                <a:cs typeface="Arial"/>
                <a:sym typeface="Arial"/>
              </a:rPr>
              <a:t>)</a:t>
            </a:r>
            <a:br>
              <a:rPr b="1" lang="en-US" sz="1100">
                <a:latin typeface="Arial"/>
                <a:ea typeface="Arial"/>
                <a:cs typeface="Arial"/>
                <a:sym typeface="Arial"/>
              </a:rPr>
            </a:br>
            <a:br>
              <a:rPr lang="en-US" sz="1100">
                <a:latin typeface="Arial"/>
                <a:ea typeface="Arial"/>
                <a:cs typeface="Arial"/>
                <a:sym typeface="Arial"/>
              </a:rPr>
            </a:br>
            <a:r>
              <a:rPr b="1" lang="en-US" sz="1100">
                <a:latin typeface="Arial"/>
                <a:ea typeface="Arial"/>
                <a:cs typeface="Arial"/>
                <a:sym typeface="Arial"/>
              </a:rPr>
              <a:t>lambda_v = a * c * (I_h / N_h)</a:t>
            </a:r>
            <a:br>
              <a:rPr b="1" lang="en-US" sz="1100">
                <a:latin typeface="Arial"/>
                <a:ea typeface="Arial"/>
                <a:cs typeface="Arial"/>
                <a:sym typeface="Arial"/>
              </a:rPr>
            </a:br>
            <a:br>
              <a:rPr b="1" lang="en-US" sz="1100">
                <a:latin typeface="Arial"/>
                <a:ea typeface="Arial"/>
                <a:cs typeface="Arial"/>
                <a:sym typeface="Arial"/>
              </a:rPr>
            </a:br>
            <a:r>
              <a:rPr b="1" lang="en-US" sz="1100">
                <a:latin typeface="Arial"/>
                <a:ea typeface="Arial"/>
                <a:cs typeface="Arial"/>
                <a:sym typeface="Arial"/>
              </a:rPr>
              <a:t>𝝀</a:t>
            </a:r>
            <a:r>
              <a:rPr b="1" baseline="-25000" lang="en-US" sz="1100">
                <a:latin typeface="Arial"/>
                <a:ea typeface="Arial"/>
                <a:cs typeface="Arial"/>
                <a:sym typeface="Arial"/>
              </a:rPr>
              <a:t>v</a:t>
            </a:r>
            <a:r>
              <a:rPr b="1" lang="en-US" sz="1100">
                <a:latin typeface="Arial"/>
                <a:ea typeface="Arial"/>
                <a:cs typeface="Arial"/>
                <a:sym typeface="Arial"/>
              </a:rPr>
              <a:t> = ac(I</a:t>
            </a:r>
            <a:r>
              <a:rPr b="1" baseline="-25000" lang="en-US" sz="1100">
                <a:latin typeface="Arial"/>
                <a:ea typeface="Arial"/>
                <a:cs typeface="Arial"/>
                <a:sym typeface="Arial"/>
              </a:rPr>
              <a:t>h</a:t>
            </a:r>
            <a:r>
              <a:rPr b="1" lang="en-US" sz="1100">
                <a:latin typeface="Arial"/>
                <a:ea typeface="Arial"/>
                <a:cs typeface="Arial"/>
                <a:sym typeface="Arial"/>
              </a:rPr>
              <a:t>/N</a:t>
            </a:r>
            <a:r>
              <a:rPr b="1" baseline="-25000" lang="en-US" sz="1100">
                <a:latin typeface="Arial"/>
                <a:ea typeface="Arial"/>
                <a:cs typeface="Arial"/>
                <a:sym typeface="Arial"/>
              </a:rPr>
              <a:t>h</a:t>
            </a:r>
            <a:r>
              <a:rPr b="1" lang="en-US" sz="1100">
                <a:latin typeface="Arial"/>
                <a:ea typeface="Arial"/>
                <a:cs typeface="Arial"/>
                <a:sym typeface="Arial"/>
              </a:rPr>
              <a:t>)</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a:t>
            </a:r>
            <a:r>
              <a:rPr b="1" lang="en-US" sz="1100">
                <a:latin typeface="Arial"/>
                <a:ea typeface="Arial"/>
                <a:cs typeface="Arial"/>
                <a:sym typeface="Arial"/>
              </a:rPr>
              <a:t>a</a:t>
            </a:r>
            <a:r>
              <a:rPr lang="en-US" sz="1100">
                <a:latin typeface="Arial"/>
                <a:ea typeface="Arial"/>
                <a:cs typeface="Arial"/>
                <a:sym typeface="Arial"/>
              </a:rPr>
              <a:t> is the biting rate; </a:t>
            </a:r>
            <a:r>
              <a:rPr b="1" lang="en-US" sz="1100">
                <a:latin typeface="Arial"/>
                <a:ea typeface="Arial"/>
                <a:cs typeface="Arial"/>
                <a:sym typeface="Arial"/>
              </a:rPr>
              <a:t>b</a:t>
            </a:r>
            <a:r>
              <a:rPr lang="en-US" sz="1100">
                <a:latin typeface="Arial"/>
                <a:ea typeface="Arial"/>
                <a:cs typeface="Arial"/>
                <a:sym typeface="Arial"/>
              </a:rPr>
              <a:t> is the probability an infectious mosquito infects a human per bite; </a:t>
            </a:r>
            <a:r>
              <a:rPr b="1" lang="en-US" sz="1100">
                <a:latin typeface="Arial"/>
                <a:ea typeface="Arial"/>
                <a:cs typeface="Arial"/>
                <a:sym typeface="Arial"/>
              </a:rPr>
              <a:t>c</a:t>
            </a:r>
            <a:r>
              <a:rPr lang="en-US" sz="1100">
                <a:latin typeface="Arial"/>
                <a:ea typeface="Arial"/>
                <a:cs typeface="Arial"/>
                <a:sym typeface="Arial"/>
              </a:rPr>
              <a:t> is the probability an infectious human infects a mosquito per bite. The term </a:t>
            </a:r>
            <a:r>
              <a:rPr b="1" lang="en-US" sz="1100">
                <a:latin typeface="Arial"/>
                <a:ea typeface="Arial"/>
                <a:cs typeface="Arial"/>
                <a:sym typeface="Arial"/>
              </a:rPr>
              <a:t>I</a:t>
            </a:r>
            <a:r>
              <a:rPr b="1" baseline="-25000" lang="en-US" sz="1100">
                <a:latin typeface="Arial"/>
                <a:ea typeface="Arial"/>
                <a:cs typeface="Arial"/>
                <a:sym typeface="Arial"/>
              </a:rPr>
              <a:t>v</a:t>
            </a:r>
            <a:r>
              <a:rPr b="1" lang="en-US" sz="1100">
                <a:latin typeface="Arial"/>
                <a:ea typeface="Arial"/>
                <a:cs typeface="Arial"/>
                <a:sym typeface="Arial"/>
              </a:rPr>
              <a:t>/N</a:t>
            </a:r>
            <a:r>
              <a:rPr b="1" baseline="-25000" lang="en-US" sz="1100">
                <a:latin typeface="Arial"/>
                <a:ea typeface="Arial"/>
                <a:cs typeface="Arial"/>
                <a:sym typeface="Arial"/>
              </a:rPr>
              <a:t>v</a:t>
            </a:r>
            <a:r>
              <a:rPr lang="en-US" sz="1100">
                <a:latin typeface="Arial"/>
                <a:ea typeface="Arial"/>
                <a:cs typeface="Arial"/>
                <a:sym typeface="Arial"/>
              </a:rPr>
              <a:t> is the fraction of mosquitoes that are infectious, and </a:t>
            </a:r>
            <a:r>
              <a:rPr b="1" lang="en-US" sz="1100">
                <a:latin typeface="Arial"/>
                <a:ea typeface="Arial"/>
                <a:cs typeface="Arial"/>
                <a:sym typeface="Arial"/>
              </a:rPr>
              <a:t>I</a:t>
            </a:r>
            <a:r>
              <a:rPr b="1" baseline="-25000" lang="en-US" sz="1100">
                <a:latin typeface="Arial"/>
                <a:ea typeface="Arial"/>
                <a:cs typeface="Arial"/>
                <a:sym typeface="Arial"/>
              </a:rPr>
              <a:t>h</a:t>
            </a:r>
            <a:r>
              <a:rPr b="1" lang="en-US" sz="1100">
                <a:latin typeface="Arial"/>
                <a:ea typeface="Arial"/>
                <a:cs typeface="Arial"/>
                <a:sym typeface="Arial"/>
              </a:rPr>
              <a:t>/N</a:t>
            </a:r>
            <a:r>
              <a:rPr b="1" baseline="-25000" lang="en-US" sz="1100">
                <a:latin typeface="Arial"/>
                <a:ea typeface="Arial"/>
                <a:cs typeface="Arial"/>
                <a:sym typeface="Arial"/>
              </a:rPr>
              <a:t>h</a:t>
            </a:r>
            <a:r>
              <a:rPr lang="en-US" sz="1100">
                <a:latin typeface="Arial"/>
                <a:ea typeface="Arial"/>
                <a:cs typeface="Arial"/>
                <a:sym typeface="Arial"/>
              </a:rPr>
              <a:t> is the fraction of humans that are infectious. These two expressions make the feedback loop explicit: when more mosquitoes are infectious, human infection pressure rises; when more humans are infectious, mosquito infection pressure rises. This is the backbone of Ross–Macdonald thinking, and most malaria exam questions are essentially testing whether this loop and its parameters are properly understood.</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99" name="Google Shape;99;g3b2efa3f2a9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2efa3f2a9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2efa3f2a9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16 — Malaria: minimal infectious dynamics</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minimal infectious dynamics description can be written using these forces of infection. </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For humans:</a:t>
            </a:r>
            <a:br>
              <a:rPr lang="en-US" sz="1100">
                <a:latin typeface="Arial"/>
                <a:ea typeface="Arial"/>
                <a:cs typeface="Arial"/>
                <a:sym typeface="Arial"/>
              </a:rPr>
            </a:br>
            <a:r>
              <a:rPr lang="en-US" sz="1100">
                <a:latin typeface="Arial"/>
                <a:ea typeface="Arial"/>
                <a:cs typeface="Arial"/>
                <a:sym typeface="Arial"/>
              </a:rPr>
              <a:t> </a:t>
            </a:r>
            <a:br>
              <a:rPr lang="en-US" sz="1100">
                <a:latin typeface="Arial"/>
                <a:ea typeface="Arial"/>
                <a:cs typeface="Arial"/>
                <a:sym typeface="Arial"/>
              </a:rPr>
            </a:br>
            <a:r>
              <a:rPr b="1" i="1" lang="en-US" sz="1100">
                <a:latin typeface="Arial"/>
                <a:ea typeface="Arial"/>
                <a:cs typeface="Arial"/>
                <a:sym typeface="Arial"/>
              </a:rPr>
              <a:t>dI</a:t>
            </a:r>
            <a:r>
              <a:rPr b="1" baseline="-25000" i="1" lang="en-US" sz="1100">
                <a:latin typeface="Arial"/>
                <a:ea typeface="Arial"/>
                <a:cs typeface="Arial"/>
                <a:sym typeface="Arial"/>
              </a:rPr>
              <a:t>h </a:t>
            </a:r>
            <a:r>
              <a:rPr b="1" i="1" lang="en-US" sz="1100">
                <a:latin typeface="Arial"/>
                <a:ea typeface="Arial"/>
                <a:cs typeface="Arial"/>
                <a:sym typeface="Arial"/>
              </a:rPr>
              <a:t>/ dt</a:t>
            </a:r>
            <a:r>
              <a:rPr b="1" lang="en-US" sz="1100">
                <a:latin typeface="Arial"/>
                <a:ea typeface="Arial"/>
                <a:cs typeface="Arial"/>
                <a:sym typeface="Arial"/>
              </a:rPr>
              <a:t> = </a:t>
            </a:r>
            <a:r>
              <a:rPr b="1" i="1" lang="en-US" sz="1100">
                <a:latin typeface="Arial"/>
                <a:ea typeface="Arial"/>
                <a:cs typeface="Arial"/>
                <a:sym typeface="Arial"/>
              </a:rPr>
              <a:t>𝝀</a:t>
            </a:r>
            <a:r>
              <a:rPr b="1" baseline="-25000" i="1" lang="en-US" sz="1100">
                <a:latin typeface="Arial"/>
                <a:ea typeface="Arial"/>
                <a:cs typeface="Arial"/>
                <a:sym typeface="Arial"/>
              </a:rPr>
              <a:t>h</a:t>
            </a:r>
            <a:r>
              <a:rPr b="1" i="1" lang="en-US" sz="1100">
                <a:latin typeface="Arial"/>
                <a:ea typeface="Arial"/>
                <a:cs typeface="Arial"/>
                <a:sym typeface="Arial"/>
              </a:rPr>
              <a:t>S</a:t>
            </a:r>
            <a:r>
              <a:rPr b="1" baseline="-25000" i="1" lang="en-US" sz="1100">
                <a:latin typeface="Arial"/>
                <a:ea typeface="Arial"/>
                <a:cs typeface="Arial"/>
                <a:sym typeface="Arial"/>
              </a:rPr>
              <a:t>h</a:t>
            </a:r>
            <a:r>
              <a:rPr b="1" lang="en-US" sz="1100">
                <a:latin typeface="Arial"/>
                <a:ea typeface="Arial"/>
                <a:cs typeface="Arial"/>
                <a:sym typeface="Arial"/>
              </a:rPr>
              <a:t> - 𝜸</a:t>
            </a:r>
            <a:r>
              <a:rPr b="1" baseline="-25000" i="1" lang="en-US" sz="1100">
                <a:latin typeface="Arial"/>
                <a:ea typeface="Arial"/>
                <a:cs typeface="Arial"/>
                <a:sym typeface="Arial"/>
              </a:rPr>
              <a:t>h</a:t>
            </a:r>
            <a:r>
              <a:rPr b="1" i="1" lang="en-US" sz="1100">
                <a:latin typeface="Arial"/>
                <a:ea typeface="Arial"/>
                <a:cs typeface="Arial"/>
                <a:sym typeface="Arial"/>
              </a:rPr>
              <a:t>I</a:t>
            </a:r>
            <a:r>
              <a:rPr b="1" baseline="-25000" i="1" lang="en-US" sz="1100">
                <a:latin typeface="Arial"/>
                <a:ea typeface="Arial"/>
                <a:cs typeface="Arial"/>
                <a:sym typeface="Arial"/>
              </a:rPr>
              <a:t>h</a:t>
            </a:r>
            <a:br>
              <a:rPr b="1" lang="en-US" sz="1100">
                <a:latin typeface="Arial"/>
                <a:ea typeface="Arial"/>
                <a:cs typeface="Arial"/>
                <a:sym typeface="Arial"/>
              </a:rPr>
            </a:br>
            <a:br>
              <a:rPr b="1" lang="en-US" sz="1100">
                <a:latin typeface="Arial"/>
                <a:ea typeface="Arial"/>
                <a:cs typeface="Arial"/>
                <a:sym typeface="Arial"/>
              </a:rPr>
            </a:br>
            <a:r>
              <a:rPr lang="en-US" sz="1100">
                <a:latin typeface="Arial"/>
                <a:ea typeface="Arial"/>
                <a:cs typeface="Arial"/>
                <a:sym typeface="Arial"/>
              </a:rPr>
              <a:t> For vectors:</a:t>
            </a:r>
            <a:br>
              <a:rPr lang="en-US" sz="1100">
                <a:latin typeface="Arial"/>
                <a:ea typeface="Arial"/>
                <a:cs typeface="Arial"/>
                <a:sym typeface="Arial"/>
              </a:rPr>
            </a:br>
            <a:r>
              <a:rPr lang="en-US" sz="1100">
                <a:latin typeface="Arial"/>
                <a:ea typeface="Arial"/>
                <a:cs typeface="Arial"/>
                <a:sym typeface="Arial"/>
              </a:rPr>
              <a:t> </a:t>
            </a:r>
            <a:r>
              <a:rPr b="1" i="1" lang="en-US" sz="1100">
                <a:latin typeface="Arial"/>
                <a:ea typeface="Arial"/>
                <a:cs typeface="Arial"/>
                <a:sym typeface="Arial"/>
              </a:rPr>
              <a:t>dI</a:t>
            </a:r>
            <a:r>
              <a:rPr b="1" baseline="-25000" i="1" lang="en-US" sz="1100">
                <a:latin typeface="Arial"/>
                <a:ea typeface="Arial"/>
                <a:cs typeface="Arial"/>
                <a:sym typeface="Arial"/>
              </a:rPr>
              <a:t>v </a:t>
            </a:r>
            <a:r>
              <a:rPr b="1" i="1" lang="en-US" sz="1100">
                <a:latin typeface="Arial"/>
                <a:ea typeface="Arial"/>
                <a:cs typeface="Arial"/>
                <a:sym typeface="Arial"/>
              </a:rPr>
              <a:t>/ dt </a:t>
            </a:r>
            <a:r>
              <a:rPr b="1" lang="en-US" sz="1100">
                <a:latin typeface="Arial"/>
                <a:ea typeface="Arial"/>
                <a:cs typeface="Arial"/>
                <a:sym typeface="Arial"/>
              </a:rPr>
              <a:t>= </a:t>
            </a:r>
            <a:r>
              <a:rPr b="1" i="1" lang="en-US" sz="1100">
                <a:latin typeface="Arial"/>
                <a:ea typeface="Arial"/>
                <a:cs typeface="Arial"/>
                <a:sym typeface="Arial"/>
              </a:rPr>
              <a:t>𝝀</a:t>
            </a:r>
            <a:r>
              <a:rPr b="1" baseline="-25000" i="1" lang="en-US" sz="1100">
                <a:latin typeface="Arial"/>
                <a:ea typeface="Arial"/>
                <a:cs typeface="Arial"/>
                <a:sym typeface="Arial"/>
              </a:rPr>
              <a:t>v</a:t>
            </a:r>
            <a:r>
              <a:rPr b="1" i="1" lang="en-US" sz="1100">
                <a:latin typeface="Arial"/>
                <a:ea typeface="Arial"/>
                <a:cs typeface="Arial"/>
                <a:sym typeface="Arial"/>
              </a:rPr>
              <a:t>S</a:t>
            </a:r>
            <a:r>
              <a:rPr b="1" baseline="-25000" i="1" lang="en-US" sz="1100">
                <a:latin typeface="Arial"/>
                <a:ea typeface="Arial"/>
                <a:cs typeface="Arial"/>
                <a:sym typeface="Arial"/>
              </a:rPr>
              <a:t>v</a:t>
            </a:r>
            <a:r>
              <a:rPr b="1" lang="en-US" sz="1100">
                <a:latin typeface="Arial"/>
                <a:ea typeface="Arial"/>
                <a:cs typeface="Arial"/>
                <a:sym typeface="Arial"/>
              </a:rPr>
              <a:t> - 𝝁</a:t>
            </a:r>
            <a:r>
              <a:rPr b="1" baseline="-25000" i="1" lang="en-US" sz="1100">
                <a:latin typeface="Arial"/>
                <a:ea typeface="Arial"/>
                <a:cs typeface="Arial"/>
                <a:sym typeface="Arial"/>
              </a:rPr>
              <a:t>v</a:t>
            </a:r>
            <a:r>
              <a:rPr b="1" i="1" lang="en-US" sz="1100">
                <a:latin typeface="Arial"/>
                <a:ea typeface="Arial"/>
                <a:cs typeface="Arial"/>
                <a:sym typeface="Arial"/>
              </a:rPr>
              <a:t>I</a:t>
            </a:r>
            <a:r>
              <a:rPr b="1" baseline="-25000" i="1" lang="en-US" sz="1100">
                <a:latin typeface="Arial"/>
                <a:ea typeface="Arial"/>
                <a:cs typeface="Arial"/>
                <a:sym typeface="Arial"/>
              </a:rPr>
              <a:t>v</a:t>
            </a:r>
            <a:endParaRPr b="1" baseline="-25000"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a:t>
            </a:r>
            <a:r>
              <a:rPr b="1" lang="en-US" sz="1100">
                <a:latin typeface="Arial"/>
                <a:ea typeface="Arial"/>
                <a:cs typeface="Arial"/>
                <a:sym typeface="Arial"/>
              </a:rPr>
              <a:t>gamma_h (</a:t>
            </a:r>
            <a:r>
              <a:rPr b="1" lang="en-US" sz="1100">
                <a:latin typeface="Arial"/>
                <a:ea typeface="Arial"/>
                <a:cs typeface="Arial"/>
                <a:sym typeface="Arial"/>
              </a:rPr>
              <a:t>𝜸</a:t>
            </a:r>
            <a:r>
              <a:rPr b="1" baseline="-25000" i="1" lang="en-US" sz="1100">
                <a:latin typeface="Arial"/>
                <a:ea typeface="Arial"/>
                <a:cs typeface="Arial"/>
                <a:sym typeface="Arial"/>
              </a:rPr>
              <a:t>h</a:t>
            </a:r>
            <a:r>
              <a:rPr b="1" i="1" lang="en-US" sz="1100">
                <a:latin typeface="Arial"/>
                <a:ea typeface="Arial"/>
                <a:cs typeface="Arial"/>
                <a:sym typeface="Arial"/>
              </a:rPr>
              <a:t>)</a:t>
            </a:r>
            <a:r>
              <a:rPr b="1" baseline="-25000" i="1" lang="en-US" sz="1100">
                <a:latin typeface="Arial"/>
                <a:ea typeface="Arial"/>
                <a:cs typeface="Arial"/>
                <a:sym typeface="Arial"/>
              </a:rPr>
              <a:t> </a:t>
            </a:r>
            <a:r>
              <a:rPr lang="en-US" sz="1100">
                <a:latin typeface="Arial"/>
                <a:ea typeface="Arial"/>
                <a:cs typeface="Arial"/>
                <a:sym typeface="Arial"/>
              </a:rPr>
              <a:t> is the human recovery rate, and </a:t>
            </a:r>
            <a:r>
              <a:rPr b="1" lang="en-US" sz="1100">
                <a:latin typeface="Arial"/>
                <a:ea typeface="Arial"/>
                <a:cs typeface="Arial"/>
                <a:sym typeface="Arial"/>
              </a:rPr>
              <a:t>mu_v (</a:t>
            </a:r>
            <a:r>
              <a:rPr b="1" lang="en-US" sz="1100">
                <a:latin typeface="Arial"/>
                <a:ea typeface="Arial"/>
                <a:cs typeface="Arial"/>
                <a:sym typeface="Arial"/>
              </a:rPr>
              <a:t> 𝝁</a:t>
            </a:r>
            <a:r>
              <a:rPr b="1" baseline="-25000" i="1" lang="en-US" sz="1100">
                <a:latin typeface="Arial"/>
                <a:ea typeface="Arial"/>
                <a:cs typeface="Arial"/>
                <a:sym typeface="Arial"/>
              </a:rPr>
              <a:t>v</a:t>
            </a:r>
            <a:r>
              <a:rPr b="1" i="1" lang="en-US" sz="1100">
                <a:latin typeface="Arial"/>
                <a:ea typeface="Arial"/>
                <a:cs typeface="Arial"/>
                <a:sym typeface="Arial"/>
              </a:rPr>
              <a:t>)</a:t>
            </a:r>
            <a:r>
              <a:rPr lang="en-US" sz="1100">
                <a:latin typeface="Arial"/>
                <a:ea typeface="Arial"/>
                <a:cs typeface="Arial"/>
                <a:sym typeface="Arial"/>
              </a:rPr>
              <a:t> is the mosquito death rate. The structure highlights two powerful control routes. </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First, reducing the forces of infection lambda_h (</a:t>
            </a:r>
            <a:r>
              <a:rPr b="1" i="1" lang="en-US" sz="1100">
                <a:latin typeface="Arial"/>
                <a:ea typeface="Arial"/>
                <a:cs typeface="Arial"/>
                <a:sym typeface="Arial"/>
              </a:rPr>
              <a:t>𝝀</a:t>
            </a:r>
            <a:r>
              <a:rPr b="1" baseline="-25000" i="1" lang="en-US" sz="1100">
                <a:latin typeface="Arial"/>
                <a:ea typeface="Arial"/>
                <a:cs typeface="Arial"/>
                <a:sym typeface="Arial"/>
              </a:rPr>
              <a:t>h</a:t>
            </a:r>
            <a:r>
              <a:rPr lang="en-US" sz="1100">
                <a:latin typeface="Arial"/>
                <a:ea typeface="Arial"/>
                <a:cs typeface="Arial"/>
                <a:sym typeface="Arial"/>
              </a:rPr>
              <a:t>) and lambda_v (</a:t>
            </a:r>
            <a:r>
              <a:rPr b="1" i="1" lang="en-US" sz="1100">
                <a:latin typeface="Arial"/>
                <a:ea typeface="Arial"/>
                <a:cs typeface="Arial"/>
                <a:sym typeface="Arial"/>
              </a:rPr>
              <a:t>𝝀</a:t>
            </a:r>
            <a:r>
              <a:rPr b="1" baseline="-25000" i="1" lang="en-US" sz="1100">
                <a:latin typeface="Arial"/>
                <a:ea typeface="Arial"/>
                <a:cs typeface="Arial"/>
                <a:sym typeface="Arial"/>
              </a:rPr>
              <a:t>v</a:t>
            </a:r>
            <a:r>
              <a:rPr lang="en-US" sz="1100">
                <a:latin typeface="Arial"/>
                <a:ea typeface="Arial"/>
                <a:cs typeface="Arial"/>
                <a:sym typeface="Arial"/>
              </a:rPr>
              <a:t>) reduces the inflow into the infectious compartments. </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Second, increasing removal rates decreases infectious prevalence: in humans by increasing gamma_h (</a:t>
            </a:r>
            <a:r>
              <a:rPr b="1" lang="en-US" sz="1100">
                <a:latin typeface="Arial"/>
                <a:ea typeface="Arial"/>
                <a:cs typeface="Arial"/>
                <a:sym typeface="Arial"/>
              </a:rPr>
              <a:t>𝜸</a:t>
            </a:r>
            <a:r>
              <a:rPr b="1" baseline="-25000" i="1" lang="en-US" sz="1100">
                <a:latin typeface="Arial"/>
                <a:ea typeface="Arial"/>
                <a:cs typeface="Arial"/>
                <a:sym typeface="Arial"/>
              </a:rPr>
              <a:t>h</a:t>
            </a:r>
            <a:r>
              <a:rPr lang="en-US" sz="1100">
                <a:latin typeface="Arial"/>
                <a:ea typeface="Arial"/>
                <a:cs typeface="Arial"/>
                <a:sym typeface="Arial"/>
              </a:rPr>
              <a:t>) through prompt diagnosis and treatment, and in vectors by increasing mu_v (</a:t>
            </a:r>
            <a:r>
              <a:rPr b="1" lang="en-US" sz="1100">
                <a:latin typeface="Arial"/>
                <a:ea typeface="Arial"/>
                <a:cs typeface="Arial"/>
                <a:sym typeface="Arial"/>
              </a:rPr>
              <a:t> 𝝁</a:t>
            </a:r>
            <a:r>
              <a:rPr b="1" baseline="-25000" i="1" lang="en-US" sz="1100">
                <a:latin typeface="Arial"/>
                <a:ea typeface="Arial"/>
                <a:cs typeface="Arial"/>
                <a:sym typeface="Arial"/>
              </a:rPr>
              <a:t>v</a:t>
            </a:r>
            <a:r>
              <a:rPr lang="en-US" sz="1100">
                <a:latin typeface="Arial"/>
                <a:ea typeface="Arial"/>
                <a:cs typeface="Arial"/>
                <a:sym typeface="Arial"/>
              </a:rPr>
              <a:t>) through interventions like Insecticide Residual Spraying. A crucial malaria message is that vectors have no “recovery”; mosquitoes leave the infectious state primarily by dying, so mosquito survival is central.</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05" name="Google Shape;105;g3b2efa3f2a9_0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2efa3f2a9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2efa3f2a9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17 — Malaria: threshold (R</a:t>
            </a:r>
            <a:r>
              <a:rPr b="1" baseline="-25000" lang="en-US" sz="1700">
                <a:latin typeface="Arial"/>
                <a:ea typeface="Arial"/>
                <a:cs typeface="Arial"/>
                <a:sym typeface="Arial"/>
              </a:rPr>
              <a:t>0</a:t>
            </a:r>
            <a:r>
              <a:rPr b="1" lang="en-US" sz="1700">
                <a:latin typeface="Arial"/>
                <a:ea typeface="Arial"/>
                <a:cs typeface="Arial"/>
                <a:sym typeface="Arial"/>
              </a:rPr>
              <a:t>) and interpretation</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commonly cited Ross–Macdonald style expression for R0 includes biting, transmission probabilities, vector density, and mosquito survival. One illustrative form is:</a:t>
            </a:r>
            <a:br>
              <a:rPr lang="en-US" sz="1100">
                <a:latin typeface="Arial"/>
                <a:ea typeface="Arial"/>
                <a:cs typeface="Arial"/>
                <a:sym typeface="Arial"/>
              </a:rPr>
            </a:br>
            <a:r>
              <a:rPr lang="en-US" sz="1100">
                <a:latin typeface="Arial"/>
                <a:ea typeface="Arial"/>
                <a:cs typeface="Arial"/>
                <a:sym typeface="Arial"/>
              </a:rPr>
              <a:t> </a:t>
            </a:r>
            <a:r>
              <a:rPr b="1" lang="en-US" sz="1100">
                <a:latin typeface="Arial"/>
                <a:ea typeface="Arial"/>
                <a:cs typeface="Arial"/>
                <a:sym typeface="Arial"/>
              </a:rPr>
              <a:t>R</a:t>
            </a:r>
            <a:r>
              <a:rPr b="1" baseline="-25000" lang="en-US" sz="1100">
                <a:latin typeface="Arial"/>
                <a:ea typeface="Arial"/>
                <a:cs typeface="Arial"/>
                <a:sym typeface="Arial"/>
              </a:rPr>
              <a:t>0</a:t>
            </a:r>
            <a:r>
              <a:rPr b="1" lang="en-US" sz="1100">
                <a:latin typeface="Arial"/>
                <a:ea typeface="Arial"/>
                <a:cs typeface="Arial"/>
                <a:sym typeface="Arial"/>
              </a:rPr>
              <a:t> = sqrt( (a</a:t>
            </a:r>
            <a:r>
              <a:rPr b="1" baseline="30000" lang="en-US" sz="1100">
                <a:latin typeface="Arial"/>
                <a:ea typeface="Arial"/>
                <a:cs typeface="Arial"/>
                <a:sym typeface="Arial"/>
              </a:rPr>
              <a:t>2</a:t>
            </a:r>
            <a:r>
              <a:rPr b="1" lang="en-US" sz="1100">
                <a:latin typeface="Arial"/>
                <a:ea typeface="Arial"/>
                <a:cs typeface="Arial"/>
                <a:sym typeface="Arial"/>
              </a:rPr>
              <a:t>bcm) / (𝜸</a:t>
            </a:r>
            <a:r>
              <a:rPr b="1" baseline="-25000" i="1" lang="en-US" sz="1100">
                <a:latin typeface="Arial"/>
                <a:ea typeface="Arial"/>
                <a:cs typeface="Arial"/>
                <a:sym typeface="Arial"/>
              </a:rPr>
              <a:t>h</a:t>
            </a:r>
            <a:r>
              <a:rPr b="1" lang="en-US" sz="1100">
                <a:latin typeface="Arial"/>
                <a:ea typeface="Arial"/>
                <a:cs typeface="Arial"/>
                <a:sym typeface="Arial"/>
              </a:rPr>
              <a:t> </a:t>
            </a:r>
            <a:r>
              <a:rPr b="1" lang="en-US" sz="1100">
                <a:latin typeface="Arial"/>
                <a:ea typeface="Arial"/>
                <a:cs typeface="Arial"/>
                <a:sym typeface="Arial"/>
              </a:rPr>
              <a:t>𝝁</a:t>
            </a:r>
            <a:r>
              <a:rPr b="1" baseline="-25000" lang="en-US" sz="1100">
                <a:latin typeface="Arial"/>
                <a:ea typeface="Arial"/>
                <a:cs typeface="Arial"/>
                <a:sym typeface="Arial"/>
              </a:rPr>
              <a:t>v</a:t>
            </a:r>
            <a:r>
              <a:rPr b="1" lang="en-US" sz="1100">
                <a:latin typeface="Arial"/>
                <a:ea typeface="Arial"/>
                <a:cs typeface="Arial"/>
                <a:sym typeface="Arial"/>
              </a:rPr>
              <a:t>) ) * exp(-</a:t>
            </a:r>
            <a:r>
              <a:rPr b="1" lang="en-US" sz="1100">
                <a:latin typeface="Arial"/>
                <a:ea typeface="Arial"/>
                <a:cs typeface="Arial"/>
                <a:sym typeface="Arial"/>
              </a:rPr>
              <a:t>𝝁</a:t>
            </a:r>
            <a:r>
              <a:rPr b="1" baseline="-25000" i="1" lang="en-US" sz="1100">
                <a:latin typeface="Arial"/>
                <a:ea typeface="Arial"/>
                <a:cs typeface="Arial"/>
                <a:sym typeface="Arial"/>
              </a:rPr>
              <a:t>v</a:t>
            </a:r>
            <a:r>
              <a:rPr b="1" i="1" lang="en-US" sz="1100">
                <a:latin typeface="Arial"/>
                <a:ea typeface="Arial"/>
                <a:cs typeface="Arial"/>
                <a:sym typeface="Arial"/>
              </a:rPr>
              <a:t>n</a:t>
            </a:r>
            <a:r>
              <a:rPr b="1" lang="en-US" sz="1100">
                <a:latin typeface="Arial"/>
                <a:ea typeface="Arial"/>
                <a:cs typeface="Arial"/>
                <a:sym typeface="Arial"/>
              </a:rPr>
              <a:t>)</a:t>
            </a:r>
            <a:endParaRPr b="1"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Here, </a:t>
            </a:r>
            <a:r>
              <a:rPr b="1" lang="en-US" sz="1100">
                <a:latin typeface="Arial"/>
                <a:ea typeface="Arial"/>
                <a:cs typeface="Arial"/>
                <a:sym typeface="Arial"/>
              </a:rPr>
              <a:t>m</a:t>
            </a:r>
            <a:r>
              <a:rPr lang="en-US" sz="1100">
                <a:latin typeface="Arial"/>
                <a:ea typeface="Arial"/>
                <a:cs typeface="Arial"/>
                <a:sym typeface="Arial"/>
              </a:rPr>
              <a:t> is a vector-to-human density measure, and </a:t>
            </a:r>
            <a:r>
              <a:rPr b="1" lang="en-US" sz="1100">
                <a:latin typeface="Arial"/>
                <a:ea typeface="Arial"/>
                <a:cs typeface="Arial"/>
                <a:sym typeface="Arial"/>
              </a:rPr>
              <a:t>n</a:t>
            </a:r>
            <a:r>
              <a:rPr lang="en-US" sz="1100">
                <a:latin typeface="Arial"/>
                <a:ea typeface="Arial"/>
                <a:cs typeface="Arial"/>
                <a:sym typeface="Arial"/>
              </a:rPr>
              <a:t> is the incubation period in the mosquito. The interpretation is more important than memorizing the exact expression.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a:t>
            </a:r>
            <a:r>
              <a:rPr baseline="-25000" lang="en-US" sz="1100">
                <a:latin typeface="Arial"/>
                <a:ea typeface="Arial"/>
                <a:cs typeface="Arial"/>
                <a:sym typeface="Arial"/>
              </a:rPr>
              <a:t>0</a:t>
            </a:r>
            <a:r>
              <a:rPr lang="en-US" sz="1100">
                <a:latin typeface="Arial"/>
                <a:ea typeface="Arial"/>
                <a:cs typeface="Arial"/>
                <a:sym typeface="Arial"/>
              </a:rPr>
              <a:t> increases strongly with biting rate a, and it decreases when humans recover faster (higher gamma_h, </a:t>
            </a:r>
            <a:r>
              <a:rPr b="1" lang="en-US" sz="1100">
                <a:latin typeface="Arial"/>
                <a:ea typeface="Arial"/>
                <a:cs typeface="Arial"/>
                <a:sym typeface="Arial"/>
              </a:rPr>
              <a:t>𝜸</a:t>
            </a:r>
            <a:r>
              <a:rPr b="1" baseline="-25000" i="1" lang="en-US" sz="1100">
                <a:latin typeface="Arial"/>
                <a:ea typeface="Arial"/>
                <a:cs typeface="Arial"/>
                <a:sym typeface="Arial"/>
              </a:rPr>
              <a:t>h</a:t>
            </a:r>
            <a:r>
              <a:rPr lang="en-US" sz="1100">
                <a:latin typeface="Arial"/>
                <a:ea typeface="Arial"/>
                <a:cs typeface="Arial"/>
                <a:sym typeface="Arial"/>
              </a:rPr>
              <a:t>) and when mosquitoes die faster (higher mu_v,</a:t>
            </a:r>
            <a:r>
              <a:rPr b="1" lang="en-US" sz="1100">
                <a:latin typeface="Arial"/>
                <a:ea typeface="Arial"/>
                <a:cs typeface="Arial"/>
                <a:sym typeface="Arial"/>
              </a:rPr>
              <a:t>𝝁</a:t>
            </a:r>
            <a:r>
              <a:rPr b="1" baseline="-25000" i="1" lang="en-US" sz="1100">
                <a:latin typeface="Arial"/>
                <a:ea typeface="Arial"/>
                <a:cs typeface="Arial"/>
                <a:sym typeface="Arial"/>
              </a:rPr>
              <a:t>v</a:t>
            </a:r>
            <a:r>
              <a:rPr lang="en-US" sz="1100">
                <a:latin typeface="Arial"/>
                <a:ea typeface="Arial"/>
                <a:cs typeface="Arial"/>
                <a:sym typeface="Arial"/>
              </a:rPr>
              <a:t>). The exponential term shows why mosquito survival is such a major lever: if mosquitoes die quickly, few survive long enough to become infectious. This immediately explains why IRS and ITNs can have very large effects even without perfect coverage.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11" name="Google Shape;111;g3b2efa3f2a9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2efa3f2a9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2efa3f2a9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18 — Interventions as parameter changes</a:t>
            </a:r>
            <a:endParaRPr b="1" sz="17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Malaria interventions are best understood as parameter changes. </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US" sz="1100">
                <a:latin typeface="Arial"/>
                <a:ea typeface="Arial"/>
                <a:cs typeface="Arial"/>
                <a:sym typeface="Arial"/>
              </a:rPr>
              <a:t>ITNs reduce effective contact between humans and mosquitoes, which is represented as a reduction in </a:t>
            </a:r>
            <a:r>
              <a:rPr b="1" lang="en-US" sz="1100">
                <a:latin typeface="Arial"/>
                <a:ea typeface="Arial"/>
                <a:cs typeface="Arial"/>
                <a:sym typeface="Arial"/>
              </a:rPr>
              <a:t>a</a:t>
            </a:r>
            <a:r>
              <a:rPr lang="en-US" sz="1100">
                <a:latin typeface="Arial"/>
                <a:ea typeface="Arial"/>
                <a:cs typeface="Arial"/>
                <a:sym typeface="Arial"/>
              </a:rPr>
              <a:t> or in the effective transmission probability. Depending on the insecticide, ITNs can also increase mosquito death rate, increasing </a:t>
            </a:r>
            <a:r>
              <a:rPr b="1" lang="en-US" sz="1100">
                <a:latin typeface="Arial"/>
                <a:ea typeface="Arial"/>
                <a:cs typeface="Arial"/>
                <a:sym typeface="Arial"/>
              </a:rPr>
              <a:t>𝝁</a:t>
            </a:r>
            <a:r>
              <a:rPr b="1" baseline="-25000" i="1" lang="en-US" sz="1100">
                <a:latin typeface="Arial"/>
                <a:ea typeface="Arial"/>
                <a:cs typeface="Arial"/>
                <a:sym typeface="Arial"/>
              </a:rPr>
              <a:t>v</a:t>
            </a:r>
            <a:r>
              <a:rPr lang="en-US" sz="1100">
                <a:latin typeface="Arial"/>
                <a:ea typeface="Arial"/>
                <a:cs typeface="Arial"/>
                <a:sym typeface="Arial"/>
              </a:rPr>
              <a:t>.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IRS primarily increases mosquito death rate </a:t>
            </a:r>
            <a:r>
              <a:rPr b="1" lang="en-US" sz="1100">
                <a:latin typeface="Arial"/>
                <a:ea typeface="Arial"/>
                <a:cs typeface="Arial"/>
                <a:sym typeface="Arial"/>
              </a:rPr>
              <a:t>𝝁</a:t>
            </a:r>
            <a:r>
              <a:rPr b="1" baseline="-25000" i="1" lang="en-US" sz="1100">
                <a:latin typeface="Arial"/>
                <a:ea typeface="Arial"/>
                <a:cs typeface="Arial"/>
                <a:sym typeface="Arial"/>
              </a:rPr>
              <a:t>v</a:t>
            </a:r>
            <a:r>
              <a:rPr lang="en-US" sz="1100">
                <a:latin typeface="Arial"/>
                <a:ea typeface="Arial"/>
                <a:cs typeface="Arial"/>
                <a:sym typeface="Arial"/>
              </a:rPr>
              <a:t>, which reduces mosquito survival and therefore transmission.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Larval control reduces vector density, lowering </a:t>
            </a:r>
            <a:r>
              <a:rPr b="1" lang="en-US" sz="1100">
                <a:latin typeface="Arial"/>
                <a:ea typeface="Arial"/>
                <a:cs typeface="Arial"/>
                <a:sym typeface="Arial"/>
              </a:rPr>
              <a:t>m</a:t>
            </a:r>
            <a:r>
              <a:rPr lang="en-US" sz="1100">
                <a:latin typeface="Arial"/>
                <a:ea typeface="Arial"/>
                <a:cs typeface="Arial"/>
                <a:sym typeface="Arial"/>
              </a:rPr>
              <a:t>.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Housing improvements and behavioural changes can reduce exposure, again lowering effective </a:t>
            </a:r>
            <a:r>
              <a:rPr b="1" lang="en-US" sz="1100">
                <a:latin typeface="Arial"/>
                <a:ea typeface="Arial"/>
                <a:cs typeface="Arial"/>
                <a:sym typeface="Arial"/>
              </a:rPr>
              <a:t>a</a:t>
            </a:r>
            <a:r>
              <a:rPr lang="en-US" sz="1100">
                <a:latin typeface="Arial"/>
                <a:ea typeface="Arial"/>
                <a:cs typeface="Arial"/>
                <a:sym typeface="Arial"/>
              </a:rPr>
              <a:t>.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On the human side, prompt diagnosis and effective treatment increase </a:t>
            </a:r>
            <a:r>
              <a:rPr b="1" lang="en-US" sz="1100">
                <a:latin typeface="Arial"/>
                <a:ea typeface="Arial"/>
                <a:cs typeface="Arial"/>
                <a:sym typeface="Arial"/>
              </a:rPr>
              <a:t>gamma_h </a:t>
            </a:r>
            <a:r>
              <a:rPr lang="en-US" sz="1100">
                <a:latin typeface="Arial"/>
                <a:ea typeface="Arial"/>
                <a:cs typeface="Arial"/>
                <a:sym typeface="Arial"/>
              </a:rPr>
              <a:t>(</a:t>
            </a:r>
            <a:r>
              <a:rPr b="1" lang="en-US" sz="1100">
                <a:latin typeface="Arial"/>
                <a:ea typeface="Arial"/>
                <a:cs typeface="Arial"/>
                <a:sym typeface="Arial"/>
              </a:rPr>
              <a:t>𝛄</a:t>
            </a:r>
            <a:r>
              <a:rPr b="1" baseline="-25000" i="1" lang="en-US" sz="1100">
                <a:latin typeface="Arial"/>
                <a:ea typeface="Arial"/>
                <a:cs typeface="Arial"/>
                <a:sym typeface="Arial"/>
              </a:rPr>
              <a:t>h</a:t>
            </a:r>
            <a:r>
              <a:rPr lang="en-US" sz="1100">
                <a:latin typeface="Arial"/>
                <a:ea typeface="Arial"/>
                <a:cs typeface="Arial"/>
                <a:sym typeface="Arial"/>
              </a:rPr>
              <a:t>), shortening infectious duration.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key point is that interventions do not “float above” the model; they enter by changing parameters. </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When students can state which parameter an intervention changes and in what direction, they have understood malaria control modelling.</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17" name="Google Shape;117;g3b2efa3f2a9_0_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2efa3f2a9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2efa3f2a9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19 — Quick calculation: why ITNs + IRS combine well</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Combination interventions often work well because their effects multiply. A useful qualitative approximation is that malaria R</a:t>
            </a:r>
            <a:r>
              <a:rPr baseline="-25000" lang="en-US" sz="1100">
                <a:latin typeface="Arial"/>
                <a:ea typeface="Arial"/>
                <a:cs typeface="Arial"/>
                <a:sym typeface="Arial"/>
              </a:rPr>
              <a:t>0</a:t>
            </a:r>
            <a:r>
              <a:rPr lang="en-US" sz="1100">
                <a:latin typeface="Arial"/>
                <a:ea typeface="Arial"/>
                <a:cs typeface="Arial"/>
                <a:sym typeface="Arial"/>
              </a:rPr>
              <a:t> increases with biting and decreases with mosquito death rate. If ITNs reduce effective biting rate by, for example, 30%, that means </a:t>
            </a:r>
            <a:r>
              <a:rPr b="1" lang="en-US" sz="1100">
                <a:latin typeface="Arial"/>
                <a:ea typeface="Arial"/>
                <a:cs typeface="Arial"/>
                <a:sym typeface="Arial"/>
              </a:rPr>
              <a:t>a becomes 0.7*a</a:t>
            </a:r>
            <a:r>
              <a:rPr lang="en-US" sz="1100">
                <a:latin typeface="Arial"/>
                <a:ea typeface="Arial"/>
                <a:cs typeface="Arial"/>
                <a:sym typeface="Arial"/>
              </a:rPr>
              <a:t>. If IRS increases mosquito death rate by 50%, that means </a:t>
            </a:r>
            <a:r>
              <a:rPr b="1" lang="en-US" sz="1100">
                <a:latin typeface="Arial"/>
                <a:ea typeface="Arial"/>
                <a:cs typeface="Arial"/>
                <a:sym typeface="Arial"/>
              </a:rPr>
              <a:t>𝝁</a:t>
            </a:r>
            <a:r>
              <a:rPr b="1" baseline="-25000" i="1" lang="en-US" sz="1100">
                <a:latin typeface="Arial"/>
                <a:ea typeface="Arial"/>
                <a:cs typeface="Arial"/>
                <a:sym typeface="Arial"/>
              </a:rPr>
              <a:t>v</a:t>
            </a:r>
            <a:r>
              <a:rPr b="1" lang="en-US" sz="1100">
                <a:latin typeface="Arial"/>
                <a:ea typeface="Arial"/>
                <a:cs typeface="Arial"/>
                <a:sym typeface="Arial"/>
              </a:rPr>
              <a:t> becomes 1.5*</a:t>
            </a:r>
            <a:r>
              <a:rPr b="1" lang="en-US" sz="1100">
                <a:latin typeface="Arial"/>
                <a:ea typeface="Arial"/>
                <a:cs typeface="Arial"/>
                <a:sym typeface="Arial"/>
              </a:rPr>
              <a:t>𝝁</a:t>
            </a:r>
            <a:r>
              <a:rPr b="1" baseline="-25000" i="1" lang="en-US" sz="1100">
                <a:latin typeface="Arial"/>
                <a:ea typeface="Arial"/>
                <a:cs typeface="Arial"/>
                <a:sym typeface="Arial"/>
              </a:rPr>
              <a:t>v</a:t>
            </a:r>
            <a:r>
              <a:rPr lang="en-US" sz="1100">
                <a:latin typeface="Arial"/>
                <a:ea typeface="Arial"/>
                <a:cs typeface="Arial"/>
                <a:sym typeface="Arial"/>
              </a:rPr>
              <a:t>, which reduces mosquito survival and infectious vectors. Even without exact formula memorization, the logic is stable: reductions in biting and reductions in mosquito survival compound, so combined interventions can push R</a:t>
            </a:r>
            <a:r>
              <a:rPr baseline="-25000" lang="en-US" sz="1100">
                <a:latin typeface="Arial"/>
                <a:ea typeface="Arial"/>
                <a:cs typeface="Arial"/>
                <a:sym typeface="Arial"/>
              </a:rPr>
              <a:t>0</a:t>
            </a:r>
            <a:r>
              <a:rPr lang="en-US" sz="1100">
                <a:latin typeface="Arial"/>
                <a:ea typeface="Arial"/>
                <a:cs typeface="Arial"/>
                <a:sym typeface="Arial"/>
              </a:rPr>
              <a:t> below 1 more efficiently than relying on one tool alone. This is why malaria programs rarely choose a single intervention in isolation in high-transmission settings.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23" name="Google Shape;123;g3b2efa3f2a9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2efa3f2a9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b2efa3f2a9_0_1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20 — Seasonality</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Seasonality can be introduced by making a parameter time-dependent. A common example is the biting rate:</a:t>
            </a:r>
            <a:br>
              <a:rPr lang="en-US" sz="1100">
                <a:latin typeface="Arial"/>
                <a:ea typeface="Arial"/>
                <a:cs typeface="Arial"/>
                <a:sym typeface="Arial"/>
              </a:rPr>
            </a:br>
            <a:r>
              <a:rPr lang="en-US" sz="1100">
                <a:latin typeface="Arial"/>
                <a:ea typeface="Arial"/>
                <a:cs typeface="Arial"/>
                <a:sym typeface="Arial"/>
              </a:rPr>
              <a:t> </a:t>
            </a:r>
            <a:r>
              <a:rPr b="1" i="1" lang="en-US" sz="1100">
                <a:latin typeface="Arial"/>
                <a:ea typeface="Arial"/>
                <a:cs typeface="Arial"/>
                <a:sym typeface="Arial"/>
              </a:rPr>
              <a:t>a(t)</a:t>
            </a:r>
            <a:r>
              <a:rPr b="1" lang="en-US" sz="1100">
                <a:latin typeface="Arial"/>
                <a:ea typeface="Arial"/>
                <a:cs typeface="Arial"/>
                <a:sym typeface="Arial"/>
              </a:rPr>
              <a:t> = </a:t>
            </a:r>
            <a:r>
              <a:rPr b="1" i="1" lang="en-US" sz="1100">
                <a:latin typeface="Arial"/>
                <a:ea typeface="Arial"/>
                <a:cs typeface="Arial"/>
                <a:sym typeface="Arial"/>
              </a:rPr>
              <a:t>a</a:t>
            </a:r>
            <a:r>
              <a:rPr b="1" baseline="-25000" i="1" lang="en-US" sz="1100">
                <a:latin typeface="Arial"/>
                <a:ea typeface="Arial"/>
                <a:cs typeface="Arial"/>
                <a:sym typeface="Arial"/>
              </a:rPr>
              <a:t>0</a:t>
            </a:r>
            <a:r>
              <a:rPr b="1" lang="en-US" sz="1100">
                <a:latin typeface="Arial"/>
                <a:ea typeface="Arial"/>
                <a:cs typeface="Arial"/>
                <a:sym typeface="Arial"/>
              </a:rPr>
              <a:t>[1 + 𝜶sin(2</a:t>
            </a:r>
            <a:r>
              <a:rPr b="1" i="1" lang="en-US" sz="1100">
                <a:latin typeface="Arial"/>
                <a:ea typeface="Arial"/>
                <a:cs typeface="Arial"/>
                <a:sym typeface="Arial"/>
              </a:rPr>
              <a:t>𝞹t </a:t>
            </a:r>
            <a:r>
              <a:rPr b="1" lang="en-US" sz="1100">
                <a:latin typeface="Arial"/>
                <a:ea typeface="Arial"/>
                <a:cs typeface="Arial"/>
                <a:sym typeface="Arial"/>
              </a:rPr>
              <a:t>/ 365)]</a:t>
            </a:r>
            <a:endParaRPr b="1"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Here, </a:t>
            </a:r>
            <a:r>
              <a:rPr b="1" lang="en-US" sz="1100">
                <a:latin typeface="Arial"/>
                <a:ea typeface="Arial"/>
                <a:cs typeface="Arial"/>
                <a:sym typeface="Arial"/>
              </a:rPr>
              <a:t>a</a:t>
            </a:r>
            <a:r>
              <a:rPr b="1" baseline="-25000" lang="en-US" sz="1100">
                <a:latin typeface="Arial"/>
                <a:ea typeface="Arial"/>
                <a:cs typeface="Arial"/>
                <a:sym typeface="Arial"/>
              </a:rPr>
              <a:t>0</a:t>
            </a:r>
            <a:r>
              <a:rPr lang="en-US" sz="1100">
                <a:latin typeface="Arial"/>
                <a:ea typeface="Arial"/>
                <a:cs typeface="Arial"/>
                <a:sym typeface="Arial"/>
              </a:rPr>
              <a:t> is the average biting rate, and </a:t>
            </a:r>
            <a:r>
              <a:rPr b="1" lang="en-US" sz="1100">
                <a:latin typeface="Arial"/>
                <a:ea typeface="Arial"/>
                <a:cs typeface="Arial"/>
                <a:sym typeface="Arial"/>
              </a:rPr>
              <a:t>𝜶</a:t>
            </a:r>
            <a:r>
              <a:rPr lang="en-US" sz="1100">
                <a:latin typeface="Arial"/>
                <a:ea typeface="Arial"/>
                <a:cs typeface="Arial"/>
                <a:sym typeface="Arial"/>
              </a:rPr>
              <a:t> is the amplitude of seasonality. If alpha (</a:t>
            </a:r>
            <a:r>
              <a:rPr b="1" lang="en-US" sz="1100">
                <a:latin typeface="Arial"/>
                <a:ea typeface="Arial"/>
                <a:cs typeface="Arial"/>
                <a:sym typeface="Arial"/>
              </a:rPr>
              <a:t>𝜶</a:t>
            </a:r>
            <a:r>
              <a:rPr lang="en-US" sz="1100">
                <a:latin typeface="Arial"/>
                <a:ea typeface="Arial"/>
                <a:cs typeface="Arial"/>
                <a:sym typeface="Arial"/>
              </a:rPr>
              <a:t>) is near zero, biting is roughly constant. If alpha (</a:t>
            </a:r>
            <a:r>
              <a:rPr b="1" lang="en-US" sz="1100">
                <a:latin typeface="Arial"/>
                <a:ea typeface="Arial"/>
                <a:cs typeface="Arial"/>
                <a:sym typeface="Arial"/>
              </a:rPr>
              <a:t>𝜶)</a:t>
            </a:r>
            <a:r>
              <a:rPr lang="en-US" sz="1100">
                <a:latin typeface="Arial"/>
                <a:ea typeface="Arial"/>
                <a:cs typeface="Arial"/>
                <a:sym typeface="Arial"/>
              </a:rPr>
              <a:t> is large, biting varies strongly over the year. Seasonality produces waves in incidence because vector density and biting behaviour change with rainfall and temperature. Importantly, peaks in incidence may lag peaks in rainfall because the mosquito population needs time to grow, and transmission needs time to translate into detected cases. Seasonality also complicates fitting because parameters are no longer constant; a model can fit poorly if it assumes constant transmission when transmission is actually time-varying.</a:t>
            </a:r>
            <a:endParaRPr/>
          </a:p>
        </p:txBody>
      </p:sp>
      <p:sp>
        <p:nvSpPr>
          <p:cNvPr id="129" name="Google Shape;129;g3b2efa3f2a9_0_1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2efa3f2a9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2efa3f2a9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21 — Malaria: what data estimate what?</a:t>
            </a:r>
            <a:endParaRPr b="1" sz="17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Malaria parameters are informed by a mixture of clinical data and entomological data. </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US" sz="1100">
                <a:latin typeface="Arial"/>
                <a:ea typeface="Arial"/>
                <a:cs typeface="Arial"/>
                <a:sym typeface="Arial"/>
              </a:rPr>
              <a:t>Human surveillance data—weekly cases, test positivity, admissions—help infer the human-side dynamics and the timing of peaks.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Entomological measures such as mosquito density, biting rates, sporozoite rates, or EIR inform vector-side parameters like a and m and the fraction infectious.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Intervention coverage data—ITN ownership and usage, IRS coverage—inform changes in effective biting and mosquito death. </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Treatment coverage and access inform the human recovery rate gamma_h.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key limitation is identifiability: without vector data, multiple combinations of a, m, and mu_v can produce similar human incidence curves, so model fitting can be underdetermined. This is why malaria modelling benefits greatly from combining routine surveillance with targeted entomological measurements.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35" name="Google Shape;135;g3b2efa3f2a9_0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2efa3f2a9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2efa3f2a9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22 — TB vs Malaria (compare-and-contrast)</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TB and malaria are useful contrasts. TB persistence is driven largely by the latent reservoir. The key modelling problem is progression from latent to infectious and how treatment changes infectious duration and resistance risk. Malaria persistence is driven by the host–vector loop and mosquito survival. The key modelling problem is how biting, vector density, and mosquito death rate determine transmission potential, and how interventions change those parameters. TB typically has slower time scales and less dramatic seasonality, whereas malaria often has strong seasonal waves. Both systems teach the same modelling discipline: write biology as compartments and flows, interpret parameters epidemiologically, use thresholds like R0 to understand persistence, and translate interventions into parameter changes that can be measured and improved.</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41" name="Google Shape;141;g3b2efa3f2a9_0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2efa3f2a9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2efa3f2a9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23 — Exam-style prompts (practice thinking)</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exam-style prompts are simply testing whether the modelling logic is internalized. For TB, a typical prompt expects a clean S–L–I structure, correct definitions of beta, kappa, gamma, and an explanation of why latency causes delayed incidence and persistence. Extensions test whether reinfection and treatment are understood as changes to flows or rates, and whether MDR can be represented as a split into drug-sensitive and drug-resistant infectious classes. For malaria, exam prompts commonly test the host–vector loop, the correct forces of infection, and the interpretation of parameters like biting rate and mosquito death. Seasonality questions test whether you can represent time-varying transmission and explain how it changes patterns and fitting. Clear explanations often score as heavily as the equations.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47" name="Google Shape;147;g3b2efa3f2a9_0_1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2efa3f2a9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2efa3f2a9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24 — Problem set</a:t>
            </a:r>
            <a:endParaRPr b="1" sz="17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The problem set is designed to turn this crash unit into something examinable. The expected approach is: first, attempt each question using the model structures discussed—TB S–L–I and malaria host–vector. Second, check your parameter meanings; many marks are lost by writing correct algebra with incorrect interpretations. Third, use the solutions to learn the “model-building style”: how to start with a force of infection, how to place terms in the correct compartment equation, and how to argue intervention effects through parameter changes. A strong answer is not just a final equation; it is a coherent model statement: compartments, flows, parameters, and interpretation. That is exactly how the exam marking logic is structured.</a:t>
            </a:r>
            <a:endParaRPr/>
          </a:p>
        </p:txBody>
      </p:sp>
      <p:sp>
        <p:nvSpPr>
          <p:cNvPr id="153" name="Google Shape;153;g3b2efa3f2a9_0_1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2efa3f2a9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2efa3f2a9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25 — Summary</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crash unit can be summarized in a few ideas. For TB, latency is the defining feature: infection accumulates in L, and progression from L to I determines future incidence. Reinfection and partial immunity can sustain the system, treatment reduces infectious duration and transmission, and MDR can be represented as a two-strain extension with important program implications. For malaria, vectors are not optional: transmission is a loop between humans and mosquitoes. Forces of infection depend on biting rate and the infectious fraction on each side. R0 depends strongly on biting and mosquito survival, which is why ITNs and IRS are powerful tools. Seasonality can be represented with time-varying parameters and explains recurrent waves. If these interpretations are clear, the mathematical forms become much easier to remember and use.</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9" name="Google Shape;159;g3b2efa3f2a9_0_1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2efa3f2a9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2efa3f2a9_0_1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Slide 26 — Questions?</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 this stage, the most productive questions are the ones tied to specific model steps. A useful question sounds like: “In the TB model, where exactly does reinfection enter and what does rho mean?” or “In the malaria force of infection, why does lambda_h depend on I_v/N_v rather than I_h/N_h?” or “When I introduce seasonality into a(t), what do I expect to happen to the timing of peaks?” Those questions confirm that the model structure and parameter meanings are solid. When the structure and interpretation are correct, the algebra usually falls into place naturally.</a:t>
            </a:r>
            <a:endParaRPr/>
          </a:p>
          <a:p>
            <a:pPr indent="0" lvl="0" marL="0" rtl="0" algn="l">
              <a:spcBef>
                <a:spcPts val="1200"/>
              </a:spcBef>
              <a:spcAft>
                <a:spcPts val="0"/>
              </a:spcAft>
              <a:buNone/>
            </a:pPr>
            <a:r>
              <a:t/>
            </a:r>
            <a:endParaRPr/>
          </a:p>
        </p:txBody>
      </p:sp>
      <p:sp>
        <p:nvSpPr>
          <p:cNvPr id="165" name="Google Shape;165;g3b2efa3f2a9_0_1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pic>
        <p:nvPicPr>
          <p:cNvPr descr="Beautify this slide" id="17" name="Google Shape;17;p4"/>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Beautify this slide" id="23" name="Google Shape;23;p5"/>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pic>
        <p:nvPicPr>
          <p:cNvPr descr="Beautify this slide" id="29" name="Google Shape;29;p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Beautify this slide" id="35" name="Google Shape;35;p7"/>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pic>
        <p:nvPicPr>
          <p:cNvPr descr="Beautify this slide" id="41" name="Google Shape;41;p8"/>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descr="Beautify this slide" id="47" name="Google Shape;47;p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Beautify this slide" id="53" name="Google Shape;53;p1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Beautify this slide" id="59" name="Google Shape;59;p11"/>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descr="Beautify this slide" id="65" name="Google Shape;65;p12"/>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Beautify this slide" id="71" name="Google Shape;71;p13"/>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Beautify this slide" id="77" name="Google Shape;77;p14"/>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descr="Beautify this slide" id="83" name="Google Shape;83;p15"/>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Beautify this slide" id="89" name="Google Shape;89;p1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Beautify this slide" id="95" name="Google Shape;95;p17"/>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Beautify this slide" id="101" name="Google Shape;101;p18"/>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Beautify this slide" id="107" name="Google Shape;107;p1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Beautify this slide" id="113" name="Google Shape;113;p2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Beautify this slide" id="119" name="Google Shape;119;p21"/>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Beautify this slide" id="125" name="Google Shape;125;p22"/>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Beautify this slide" id="131" name="Google Shape;131;p23"/>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Beautify this slide" id="137" name="Google Shape;137;p24"/>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Beautify this slide" id="143" name="Google Shape;143;p25"/>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render the latex formulae/symbol correctly" id="149" name="Google Shape;149;p2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Beautify this slide" id="155" name="Google Shape;155;p27"/>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Beautify this slide" id="161" name="Google Shape;161;p28"/>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Beautify this slide" id="167" name="Google Shape;167;p2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